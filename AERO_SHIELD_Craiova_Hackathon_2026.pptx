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(Speaker Notes - 15s pentru Juriu): „În loc să inventăm o rețea oarbă de la zero, am implementat în Rust + CUDA arhitectura conectomică Open-Source publicată de Google Research pentru creierul de zbor al musculiței Drosophila — cel mai eficient sistem biologic din natură care zboară prin vânt și ceață fără GPS!”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2: Explicăm problema fără niciun jargon: în ceață densă, dacă un hacker îți păcălește GPS-ul, o eroare de doar 30 de metri te scoate în afara pistei de la Craiova.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3: Cele 3 idei pe înțelesul tuturor: 1) Curățarea ceții și detecția luminilor pistei, 2) Inversa adâncimii fără împărțire la zero la orizont, 3) Fuziunea cu giroscopul intern imposibil de piratat.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(Speaker Notes - 15s pentru Juriu): „În loc să inventăm o rețea oarbă de la zero, am implementat în Rust + CUDA arhitectura conectomică Open-Source publicată de Google Research pentru creierul de zbor al musculiței Drosophila — cel mai eficient sistem biologic din natură care zboară prin vânt și ceață fără GPS!”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5: Trei paznici cibernetici: Chi-pătrat pentru salturi bruște (&lt;17ms), CUSUM pentru devieri lente ascunse (&lt;2.9s) și poarta de validare meteo contra datelor otrăvite.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6: Chiar și în orbire totală (0 metri vizibilitate), AERO-SHIELD nu halucinează pe zgomotul camerei: scade lin ponderea vizuală și zboară pe inerțial + profilul de vânt învățat.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(Speaker Notes - 15s pentru Juriu): „În loc să inventăm o rețea oarbă de la zero, am implementat în Rust + CUDA arhitectura conectomică Open-Source publicată de Google Research pentru creierul de zbor al musculiței Drosophila — cel mai eficient sistem biologic din natură care zboară prin vânt și ceață fără GPS!”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8: Nu ne-am oprit la simulare! Am rulat motorul vizual pe 3 filmări reale de aterizare în ceață și vânt lateral, obținând o viteză medie de 438.7 cadre pe secundă.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9: Graficul comparativ arată clar cum cele 3 abordări clasice ies în afara pistei de 45m lățime, în timp ce AERO-SHIELD rămâne lipit de axul central cu eroare sub 1 metru.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10: Vă invităm acum la demonstrația interactivă live pe http://localhost:8080, unde puteți vedea filmarea reală suprapusă 50% peste grafice și puteți ataca sau pilota avionul în timp real!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1091672" cy="5806440"/>
          </a:xfrm>
          <a:prstGeom prst="roundRect">
            <a:avLst/>
          </a:prstGeom>
          <a:solidFill>
            <a:srgbClr val="111C35"/>
          </a:solidFill>
          <a:ln w="31750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0FF9D"/>
                </a:solidFill>
              </a:defRPr>
            </a:pPr>
            <a:r>
              <a:t>CRAIOVA HACKATHON 2026  •  AEROPORTUL INTERNAȚIONAL CRAIOVA (LRCV — PISTA 09)</a:t>
            </a:r>
          </a:p>
          <a:p>
            <a:pPr>
              <a:spcAft>
                <a:spcPts val="800"/>
              </a:spcAft>
              <a:defRPr sz="4000" b="1">
                <a:solidFill>
                  <a:srgbClr val="00E5FF"/>
                </a:solidFill>
              </a:defRPr>
            </a:pPr>
            <a:r>
              <a:t>AERO-SHIELD LRCV V2.0</a:t>
            </a:r>
          </a:p>
          <a:p>
            <a:pPr>
              <a:spcAft>
                <a:spcPts val="1200"/>
              </a:spcAft>
              <a:defRPr sz="2100" b="1">
                <a:solidFill>
                  <a:srgbClr val="EBF5FF"/>
                </a:solidFill>
              </a:defRPr>
            </a:pPr>
            <a:r>
              <a:t>Copilotul Vizual care Aterizează Avioane pe Ceață Densă atunci când GPS-ul este Atacat de Hackeri</a:t>
            </a:r>
          </a:p>
          <a:p>
            <a:pPr>
              <a:defRPr sz="1350" b="0">
                <a:solidFill>
                  <a:srgbClr val="9EC0E6"/>
                </a:solidFill>
              </a:defRPr>
            </a:pPr>
            <a:r>
              <a:t>Inspirat de creierul biologic Google Research Drosophila Connectome (T4/T5 → HS/VS → E-PG → PFNd) — 100% Rust + NVIDIA CUDA la 60 Hz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3794760"/>
            <a:ext cx="3337560" cy="214884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FF2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4983" y="3904488"/>
            <a:ext cx="3044952" cy="1947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2A5F"/>
                </a:solidFill>
              </a:defRPr>
            </a:pPr>
            <a:r>
              <a:t>🚨 1. Care e Pericolul?</a:t>
            </a:r>
          </a:p>
          <a:p>
            <a:pPr>
              <a:spcAft>
                <a:spcPts val="400"/>
              </a:spcAft>
              <a:defRPr sz="1150">
                <a:solidFill>
                  <a:srgbClr val="EBF5FF"/>
                </a:solidFill>
              </a:defRPr>
            </a:pPr>
            <a:r>
              <a:t>• Avionul coboară pe ceață oarbă la Craiova (Pista 09).</a:t>
            </a:r>
          </a:p>
          <a:p>
            <a:pPr>
              <a:spcAft>
                <a:spcPts val="400"/>
              </a:spcAft>
              <a:defRPr sz="1150">
                <a:solidFill>
                  <a:srgbClr val="EBF5FF"/>
                </a:solidFill>
              </a:defRPr>
            </a:pPr>
            <a:r>
              <a:t>• Un hacker îi falsifică GPS-ul ca să-l scoată pe câmp.</a:t>
            </a:r>
          </a:p>
          <a:p>
            <a:pPr>
              <a:spcAft>
                <a:spcPts val="400"/>
              </a:spcAft>
              <a:defRPr sz="1150">
                <a:solidFill>
                  <a:srgbClr val="EBF5FF"/>
                </a:solidFill>
              </a:defRPr>
            </a:pPr>
            <a:r>
              <a:t>• Vântul suflă norii de ceață și păcălește camerele clasice.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8" y="3794760"/>
            <a:ext cx="3337560" cy="214884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53712" y="3904488"/>
            <a:ext cx="3044952" cy="1947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0FF9D"/>
                </a:solidFill>
              </a:defRPr>
            </a:pPr>
            <a:r>
              <a:t>🛡️ 2. Cum îl Salvăm fără GPS?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Creierul biologic Google Research Drosophila Connectome (T4/T5 → HS/VS → E-PG → PFNd) în 100% Rust.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Camera vede luminile pistei prin ceață (SWIR + ALS) și separă solul (verde) de vântul din ceață (mov).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Scădem matematic virajele avionului (HS/VS) și păstrăm capul pistei cu busola internă E-PG.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3794760"/>
            <a:ext cx="3337560" cy="214884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01583" y="3904488"/>
            <a:ext cx="3044952" cy="1947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0E5FF"/>
                </a:solidFill>
              </a:defRPr>
            </a:pPr>
            <a:r>
              <a:t>🏆 3. Rezultat Dovedit Live</a:t>
            </a:r>
          </a:p>
          <a:p>
            <a:pPr>
              <a:spcAft>
                <a:spcPts val="400"/>
              </a:spcAft>
              <a:defRPr sz="1150">
                <a:solidFill>
                  <a:srgbClr val="EBF5FF"/>
                </a:solidFill>
              </a:defRPr>
            </a:pPr>
            <a:r>
              <a:t>• Eroare pe pistă sub 0.8 metri (fără GPS!).</a:t>
            </a:r>
          </a:p>
          <a:p>
            <a:pPr>
              <a:spcAft>
                <a:spcPts val="400"/>
              </a:spcAft>
              <a:defRPr sz="1150">
                <a:solidFill>
                  <a:srgbClr val="EBF5FF"/>
                </a:solidFill>
              </a:defRPr>
            </a:pPr>
            <a:r>
              <a:t>• 438.7 FPS medie pe 3 filmări reale din cabină.</a:t>
            </a:r>
          </a:p>
          <a:p>
            <a:pPr>
              <a:spcAft>
                <a:spcPts val="400"/>
              </a:spcAft>
              <a:defRPr sz="1150">
                <a:solidFill>
                  <a:srgbClr val="EBF5FF"/>
                </a:solidFill>
              </a:defRPr>
            </a:pPr>
            <a:r>
              <a:t>• Filmare reală suprapusă 50% peste graficul 3D!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2/10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E5FF"/>
                </a:solidFill>
              </a:defRPr>
            </a:pPr>
            <a:r>
              <a:t>PROBLEMA REALĂ (EXPLICATĂ DE LA ZERO PENTRU ORICE ÎNCEPĂTOR)</a:t>
            </a:r>
          </a:p>
          <a:p>
            <a:pPr>
              <a:defRPr sz="1150">
                <a:solidFill>
                  <a:srgbClr val="9EC0E6"/>
                </a:solidFill>
              </a:defRPr>
            </a:pPr>
            <a:r>
              <a:t>Ce pățește un avion în ultimele 60 de secunde înainte de aterizare când e ceață groasă și GPS-ul e atacat?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FB800"/>
                </a:solidFill>
              </a:defRPr>
            </a:pPr>
            <a:r>
              <a:t>🌫️ 1. Orbirea în Ceață (CAT IIIc)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• La Craiova (Pista 09), toamna și iarna apare frecvent ceață extrem de densă (vizibilitate sub 50–75 metri).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• Pilotul se uită pe geam și vede doar un „perete de lapte alb”.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• La 250 km/h (68 m/s), avionul parcurge 70 de metri în fiecare secundă — fără repere vizuale clare, pilotul nu știe unde e asfaltul.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FF2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9826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F2A5F"/>
                </a:solidFill>
              </a:defRPr>
            </a:pPr>
            <a:r>
              <a:t>🕵️ 2. Atacul Hackerului pe GPS (Spoofing)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• Avioanele moderne se bazează pe semnale din satelit (GPS / GNSS).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• Cu un emițător radio ieftin de la sol, un atacator poate trimite coordonate GPS false: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  1) Atac Brusc (Jump): mută poziția cu 250m.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  2) Atac Ascuns (Stealth Ramp): trage avionul încet în lateral cu 0.4 m/s fără să declanșeze alarmele clasice!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D94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3874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D946EF"/>
                </a:solidFill>
              </a:defRPr>
            </a:pPr>
            <a:r>
              <a:t>⚠️ 3. De ce Eșuează o Cameră Obișnuită?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• Pista are doar 45 metri lățime (±22.5m de la centru) — o eroare de 30m înseamnă ieșire în decor pe câmp!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• Dacă pui o cameră video simplă pe avion, ea face două greșeli fatale: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  a) Când vântul suflă norii de ceață în stânga, camera crede că avionul a zburat în dreapta!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  b) Când avionul se înclină, camera crede că a fugit pământul!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7395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3/10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E5FF"/>
                </a:solidFill>
              </a:defRPr>
            </a:pPr>
            <a:r>
              <a:t>CUM „VEDEM” PRIN CEAȚĂ FĂRĂ GPS? (CELE 3 IDEI SIMPLE ALE NOASTRE)</a:t>
            </a:r>
          </a:p>
          <a:p>
            <a:pPr>
              <a:defRPr sz="1150">
                <a:solidFill>
                  <a:srgbClr val="9EC0E6"/>
                </a:solidFill>
              </a:defRPr>
            </a:pPr>
            <a:r>
              <a:t>Cum înlocuim sateliții GPS cu fizica luminii, luminile pistei și senzorii interni ai avionului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00E5FF"/>
                </a:solidFill>
              </a:defRPr>
            </a:pPr>
            <a:r>
              <a:t>💡 Ideea 1: Curățarea Ceții &amp; Luminile Pistei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Folosim o cameră în infraroșu apropiat (SWIR 1550nm) care pătrunde prin picăturile de ceață mult mai bine decât ochiul uman.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Aplicăm legea fizică a lui Koschmieder inversată pentru a „șterge” vălul alb de ceață.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Căutăm automat barele luminoase de apropiere ale Pistei 09 Craiova (sistemul ALS) și le eliminăm haloul orbitor.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9826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00FF9D"/>
                </a:solidFill>
              </a:defRPr>
            </a:pPr>
            <a:r>
              <a:t>📏 Ideea 2: Viteza Măsurată din Sol (Fără Eroare la Orizont)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Ca atunci când te uiți pe geamul mașinii: obiectele apropiate se mișcă repede, iar orizontul stă pe loc.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În loc să împărțim la distanța Z (care la orizont este infinită și ar bloca programul cu împărțire la zero / NaN), folosim Inversa Adâncimii (ρ = 1/Z).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La orizont ρ devine lin 0.000000 m⁻¹ — zero blocaje matematice (DO-178C DAL-A)!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3874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FFB800"/>
                </a:solidFill>
              </a:defRPr>
            </a:pPr>
            <a:r>
              <a:t>🧭 Ideea 3: Fuziunea cu Senzorii Interni &amp; Meteo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Avionul are un giroscop și un accelerometru intern (IMU) pe care niciun hacker de la sol nu le poate pirata prin radio!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Preluăm vremea reală de la Aeroportul Craiova (Open-Meteo LRCV) pentru a ști profilul vântului pe înălțime.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Combinăm camera + giroscopul + vântul într-un Filtru Kalman (ESKF) cu 21 de stări.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7395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4/10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0E5FF"/>
                </a:solidFill>
              </a:defRPr>
            </a:pPr>
            <a:r>
              <a:t>INOVAȚIA 6-DoF &amp; BIOLOGIA DROSOPHILA: HS/VS LOBULA PLATE + PFNd WIND-VISION</a:t>
            </a:r>
          </a:p>
          <a:p>
            <a:pPr>
              <a:defRPr sz="1150" b="0">
                <a:solidFill>
                  <a:srgbClr val="9EC0E6"/>
                </a:solidFill>
              </a:defRPr>
            </a:pPr>
            <a:r>
              <a:t>Cum circuitele biologice Google Research Drosophila separă virajele camerei și vântul din ceață cu 0.85s înainte de impact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5532120" cy="237744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1344168"/>
            <a:ext cx="5239512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20" b="1">
                <a:solidFill>
                  <a:srgbClr val="00E5FF"/>
                </a:solidFill>
              </a:defRPr>
            </a:pPr>
            <a:r>
              <a:t>🔄 1. Circuitul HS / VS Lobula Plate: Derotare Globală 6-DoF pe Cuaternioni SO(3)</a:t>
            </a:r>
          </a:p>
          <a:p>
            <a:pPr>
              <a:spcAft>
                <a:spcPts val="400"/>
              </a:spcAft>
              <a:defRPr sz="1120" b="0">
                <a:solidFill>
                  <a:srgbClr val="EBF5FF"/>
                </a:solidFill>
              </a:defRPr>
            </a:pPr>
            <a:r>
              <a:t>• Când pilotul înclină aripile (Roll), ridică botul (Pitch) sau virează (Yaw), toată imaginea camerei se rotește.</a:t>
            </a:r>
          </a:p>
          <a:p>
            <a:pPr>
              <a:spcAft>
                <a:spcPts val="400"/>
              </a:spcAft>
              <a:defRPr sz="1120" b="0">
                <a:solidFill>
                  <a:srgbClr val="EBF5FF"/>
                </a:solidFill>
              </a:defRPr>
            </a:pPr>
            <a:r>
              <a:t>• Inspirat de neuronii giganti HS/VS din Lobula Plate (Drosophila), scădem matematic rotirea ω = [p, q, r] din fiecare pixel ÎNAINTE de calculul vitezei!</a:t>
            </a:r>
          </a:p>
          <a:p>
            <a:pPr>
              <a:spcAft>
                <a:spcPts val="400"/>
              </a:spcAft>
              <a:defRPr sz="1120" b="0">
                <a:solidFill>
                  <a:srgbClr val="EBF5FF"/>
                </a:solidFill>
              </a:defRPr>
            </a:pPr>
            <a:r>
              <a:t>• Folosim cuaternioni unitari q și matricea 3×3 R_b^n(q) în aero-math-6dof (fără blocaj Gimbal Lock).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234440"/>
            <a:ext cx="5577840" cy="237744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8504" y="1344168"/>
            <a:ext cx="5285231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20" b="1">
                <a:solidFill>
                  <a:srgbClr val="00FF9D"/>
                </a:solidFill>
              </a:defRPr>
            </a:pPr>
            <a:r>
              <a:t>🟢 vs 🟣 2. Circuitul PFNd Wind-Vision: Săgeți Verzi (Sol) vs. Săgeți Mov (Ceață)</a:t>
            </a:r>
          </a:p>
          <a:p>
            <a:pPr>
              <a:spcAft>
                <a:spcPts val="400"/>
              </a:spcAft>
              <a:defRPr sz="1120" b="0">
                <a:solidFill>
                  <a:srgbClr val="EBF5FF"/>
                </a:solidFill>
              </a:defRPr>
            </a:pPr>
            <a:r>
              <a:t>• După derotarea HS/VS și filtrarea direcțională T4/T5, circuitul PFNd separă imaginea în două straturi:</a:t>
            </a:r>
          </a:p>
          <a:p>
            <a:pPr>
              <a:spcAft>
                <a:spcPts val="400"/>
              </a:spcAft>
              <a:defRPr sz="1120" b="0">
                <a:solidFill>
                  <a:srgbClr val="EBF5FF"/>
                </a:solidFill>
              </a:defRPr>
            </a:pPr>
            <a:r>
              <a:t>  🟢 Săgețile Verzi = reperele fixe de la sol și luminile pistei ALS (folosite pentru ghidarea pe centrul pistei).</a:t>
            </a:r>
          </a:p>
          <a:p>
            <a:pPr>
              <a:spcAft>
                <a:spcPts val="400"/>
              </a:spcAft>
              <a:defRPr sz="1120" b="0">
                <a:solidFill>
                  <a:srgbClr val="EBF5FF"/>
                </a:solidFill>
              </a:defRPr>
            </a:pPr>
            <a:r>
              <a:t>  🟣 Săgețile Mov = mișcarea norilor de ceață suflați de vânt în fața parbrizului (izolate în vectorul v_fog).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794760"/>
            <a:ext cx="11338560" cy="242316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D94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" y="3904488"/>
            <a:ext cx="11045952" cy="2221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D946EF"/>
                </a:solidFill>
              </a:defRPr>
            </a:pPr>
            <a:r>
              <a:t>🌪️ 3. PFNd „Optical Gust Lookahead” — Vedem Rafala de Vânt cu 0.85s Înainte să Lovească Avionul!</a:t>
            </a:r>
          </a:p>
          <a:p>
            <a:pPr>
              <a:spcAft>
                <a:spcPts val="400"/>
              </a:spcAft>
              <a:defRPr sz="1200" b="0">
                <a:solidFill>
                  <a:srgbClr val="EBF5FF"/>
                </a:solidFill>
              </a:defRPr>
            </a:pPr>
            <a:r>
              <a:t>• Un senzor clasic simte rafala de vânt abia DUPĂ ce vântul a lovit aripile și a împins avionul spre marginea pistei.</a:t>
            </a:r>
          </a:p>
          <a:p>
            <a:pPr>
              <a:spcAft>
                <a:spcPts val="400"/>
              </a:spcAft>
              <a:defRPr sz="1200" b="0">
                <a:solidFill>
                  <a:srgbClr val="EBF5FF"/>
                </a:solidFill>
              </a:defRPr>
            </a:pPr>
            <a:r>
              <a:t>• Circuitul nostru PFNd Wind-Vision vede cum săgețile mov (ceața aflată la 50–80m în fața avionului) sunt împinse brusc în lateral!</a:t>
            </a:r>
          </a:p>
          <a:p>
            <a:pPr>
              <a:spcAft>
                <a:spcPts val="400"/>
              </a:spcAft>
              <a:defRPr sz="1200" b="0">
                <a:solidFill>
                  <a:srgbClr val="EBF5FF"/>
                </a:solidFill>
              </a:defRPr>
            </a:pPr>
            <a:r>
              <a:t>• Comandăm preventiv unghiul de crab (ψ_crab) în aero-flight-control cu 0.85 – 1.2 secunde ÎNAINTE ca rafala să atingă aripile!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7395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5/10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E5FF"/>
                </a:solidFill>
              </a:defRPr>
            </a:pPr>
            <a:r>
              <a:t>SCUTUL DUBLU DE SECURITATE CIBERNETICĂ (ANTI-HACKER)</a:t>
            </a:r>
          </a:p>
          <a:p>
            <a:pPr>
              <a:defRPr sz="1150">
                <a:solidFill>
                  <a:srgbClr val="9EC0E6"/>
                </a:solidFill>
              </a:defRPr>
            </a:pPr>
            <a:r>
              <a:t>Cum prindem atât atacurile bruște pe GPS, cât și atacurile ascunse (lente) sau vremea falsificată pe internet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FF2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FF2A5F"/>
                </a:solidFill>
              </a:defRPr>
            </a:pPr>
            <a:r>
              <a:t>⚡ 1. Paznicul contra Atacului GPS Brusc (χ² Mahalanobis)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Ce face hackerul: încearcă să mute brusc poziția GPS cu 50–250 metri în lateral.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Cum îl prindem: comparăm poziția GPS cu viteza măsurată de camera video pe pistă.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Dacă diferența statistică χ² depășește pragul 7.81, GPS-ul este tăiat în &lt; 17 milisecunde (un singur cadru)!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9826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FFB800"/>
                </a:solidFill>
              </a:defRPr>
            </a:pPr>
            <a:r>
              <a:t>🕵️ 2. Paznicul contra Atacului GPS Ascuns (Vector CUSUM)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Ce face hackerul inteligent: trage GPS-ul foarte încet (0.4 m/s), sub pragul detectorului clasic χ².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Cum îl prindem: adunăm în timp toate micile nepotriviri dintre GPS și camera video (algoritm CUSUM).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În &lt; 2.9 secunde (când deviația e sub 1.2 metri), prindem hackerul și trecem 100% pe ghidare vizuală!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3874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00E5FF"/>
                </a:solidFill>
              </a:defRPr>
            </a:pPr>
            <a:r>
              <a:t>🌦️ 3. Paznicul Meteo (Optical-Aerodynamic Sanity Gate)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Ce se întâmplă dacă hackerul taie internetul sau trimite date meteo false (otrăvite)?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Verificăm dacă vântul primit de pe internet se potrivește cu vântul văzut de cameră în ceață (diferență maximă permisă: ≤ 4.5 m/s).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Dacă datele meteo sunt false, le blocăm automat și folosim senzorii avionului!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7395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6/10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E5FF"/>
                </a:solidFill>
              </a:defRPr>
            </a:pPr>
            <a:r>
              <a:t>CE SE ÎNTÂMPLĂ ÎN „ORBIRE TOTALĂ” (100% CEAȚĂ ALBĂ / 0m VIZIBILITATE)?</a:t>
            </a:r>
          </a:p>
          <a:p>
            <a:pPr>
              <a:defRPr sz="1150">
                <a:solidFill>
                  <a:srgbClr val="9EC0E6"/>
                </a:solidFill>
              </a:defRPr>
            </a:pPr>
            <a:r>
              <a:t>De ce sistemul nostru nu inventează repere false atunci când camera vede doar alb complet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557784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FF2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1344168"/>
            <a:ext cx="5285231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FF2A5F"/>
                </a:solidFill>
              </a:defRPr>
            </a:pPr>
            <a:r>
              <a:t>🛑 Pericolul Halucinațiilor Vizuale în Ceață 100% Oarbă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Când vizibilitatea scade sub 25m (Whiteout complet), imaginea camerei conține doar zgomot electronic pe un fundal alb-gri.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Algoritmii obișnuiți de amplificare a contrastului (CLAHE clasic) amplifică acest zgomot și creează „margini false”.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O cameră naivă urmărește aceste purici electronici și virează avionul violent în câmp!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Soluția noastră Pasul 1 (SNR-Gated CLAHE): dacă raportul semnal-zgomot al imaginii scade sub pragul fizic, oprim amplificarea zgomotului.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234440"/>
            <a:ext cx="557784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8504" y="1344168"/>
            <a:ext cx="5285231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80" b="1">
                <a:solidFill>
                  <a:srgbClr val="00FF9D"/>
                </a:solidFill>
              </a:defRPr>
            </a:pPr>
            <a:r>
              <a:t>🧭 Busola Internă E-PG (16-Neuron Ring Attractor) &amp; Încrederea Fotonică (w_photon → 0)</a:t>
            </a:r>
          </a:p>
          <a:p>
            <a:pPr>
              <a:spcAft>
                <a:spcPts val="400"/>
              </a:spcAft>
              <a:defRPr sz="1150" b="0">
                <a:solidFill>
                  <a:srgbClr val="EBF5FF"/>
                </a:solidFill>
              </a:defRPr>
            </a:pPr>
            <a:r>
              <a:t>• Calculăm la fiecare cadru „Certitudinea Fotonică” w_photon ∈ [0, 1] pe baza contrastului T4/T5 și a luminilor ALS găsite.</a:t>
            </a:r>
          </a:p>
          <a:p>
            <a:pPr>
              <a:spcAft>
                <a:spcPts val="400"/>
              </a:spcAft>
              <a:defRPr sz="1150" b="0">
                <a:solidFill>
                  <a:srgbClr val="EBF5FF"/>
                </a:solidFill>
              </a:defRPr>
            </a:pPr>
            <a:r>
              <a:t>• În Whiteout 0m vizibilitate, folosim circuitul biologic E-PG 16-Neuron Ring Attractor (din Central Complex / Ellipsoid Body al Drosophila) ca busolă internă circulară fără derivă!</a:t>
            </a:r>
          </a:p>
          <a:p>
            <a:pPr>
              <a:spcAft>
                <a:spcPts val="400"/>
              </a:spcAft>
              <a:defRPr sz="1150" b="0">
                <a:solidFill>
                  <a:srgbClr val="EBF5FF"/>
                </a:solidFill>
              </a:defRPr>
            </a:pPr>
            <a:r>
              <a:t>• Fuziunea aero-ukf-fusion reduce ponderea camerei la zero fără șoc și menține capul pistei pe inelul de 16 neuroni E-PG + profilul de vânt PFNd până când luminile reapar!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7/10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00E5FF"/>
                </a:solidFill>
              </a:defRPr>
            </a:pPr>
            <a:r>
              <a:t>CREIERUL BIOLOGIC GOOGLE DROSOPHILA (Male CNS + Optic Lobe) ÎN 100% RUST &amp; CUDA GPU</a:t>
            </a:r>
          </a:p>
          <a:p>
            <a:pPr>
              <a:defRPr sz="1150" b="0">
                <a:solidFill>
                  <a:srgbClr val="9EC0E6"/>
                </a:solidFill>
              </a:defRPr>
            </a:pPr>
            <a:r>
              <a:t>DO-178C DAL-A  •  5 Crate-uri Modulare  •  6 Pagini Separate fără scroll  •  60 Hz Zero-Lag (&lt; 0.8 ms)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557784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1344168"/>
            <a:ext cx="5285231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20" b="1">
                <a:solidFill>
                  <a:srgbClr val="00E5FF"/>
                </a:solidFill>
              </a:defRPr>
            </a:pPr>
            <a:r>
              <a:t>🦀 Cele 5 Crate-uri Rust — Conectica Google Drosophila (Pe Înțelesul Tuturor)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1. aero-math-6dof (Circuitul 2 — HS/VS Lobula Plate): Cuaternioni SO(3) și derotare globală 6-DoF care scade instantaneu rotațiile de Roll / Pitch / Yaw din cameră.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2. aero-optical-flow (Circuitul 1 — T4/T5 Optic Lobe): Detecție direcțională prin ceață densă (căi ON/OFF) și suprimarea haloului farurilor ALS în &lt; 0.8 ms.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3. aero-ukf-fusion (Circuitul 3 — E-PG 16-Neuron Ring Attractor): Busolă circulară în Ellipsoid Body fără derivă în Whiteout 0m + paznici anti-spoofing χ² / CUSUM.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4. aero-flight-control (Circuitul 4 — PFNd Wind-Vision + CUDA PINN): Separă vântul din ceață (mov) de sol (verde) + Optical Gust Lookahead cu 0.85s înainte de impact!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5. aero-cockpit-ui (Server Axum 60 Hz Zero-Lag): Interfață cu 6 Pagini Separate fără scroll, streaming MP4 real 50% peste grafice și 58/58 teste automate verzi.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4919472"/>
            <a:ext cx="5577840" cy="1298448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1072" y="4965192"/>
            <a:ext cx="5340096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FF9D"/>
                </a:solidFill>
              </a:defRPr>
            </a:pPr>
            <a:r>
              <a:t>⚡ De ce nu îngheață niciodată bucla de 60 Hz? (Execuție &lt; 0.8 ms Zero-Lag)</a:t>
            </a:r>
          </a:p>
          <a:p>
            <a:pPr>
              <a:spcAft>
                <a:spcPts val="400"/>
              </a:spcAft>
              <a:defRPr sz="1019" b="0">
                <a:solidFill>
                  <a:srgbClr val="EBF5FF"/>
                </a:solidFill>
              </a:defRPr>
            </a:pPr>
            <a:r>
              <a:t>• Cele 4 circuite biologice (T4/T5 → HS/VS → E-PG → PFNd) rulează în &lt; 0.8 ms în 100% Rust (fără Garbage Collector).</a:t>
            </a:r>
          </a:p>
          <a:p>
            <a:pPr>
              <a:spcAft>
                <a:spcPts val="400"/>
              </a:spcAft>
              <a:defRPr sz="1019" b="0">
                <a:solidFill>
                  <a:srgbClr val="EBF5FF"/>
                </a:solidFill>
              </a:defRPr>
            </a:pPr>
            <a:r>
              <a:t>• Antrenarea CUDA (ShadowTrainer) actualizează greutățile în &lt; 50 ns prin ArcSwap + telemetrie tokio::sync::watch!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  <p:pic>
        <p:nvPicPr>
          <p:cNvPr id="10" name="Picture 9" descr="drosophila_connectome_slid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207008"/>
            <a:ext cx="5577840" cy="36393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8/10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E5FF"/>
                </a:solidFill>
              </a:defRPr>
            </a:pPr>
            <a:r>
              <a:t>VALIDARE PE 3 FILMĂRI VIDEO REALE DIN CABINA PILOȚILOR</a:t>
            </a:r>
          </a:p>
          <a:p>
            <a:pPr>
              <a:defRPr sz="1150">
                <a:solidFill>
                  <a:srgbClr val="9EC0E6"/>
                </a:solidFill>
              </a:defRPr>
            </a:pPr>
            <a:r>
              <a:t>825 cadre video reale procesate pixel cu pixel la 438.7 FPS medie — 0 erori NaN/Inf!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557784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1344168"/>
            <a:ext cx="5285231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00FF9D"/>
                </a:solidFill>
              </a:defRPr>
            </a:pPr>
            <a:r>
              <a:t>🎬 Ce Se Vede cu Ochiul Liber vs. Ce Măsoară AERO-SHIELD</a:t>
            </a:r>
          </a:p>
          <a:p>
            <a:pPr>
              <a:spcAft>
                <a:spcPts val="400"/>
              </a:spcAft>
              <a:defRPr sz="1120">
                <a:solidFill>
                  <a:srgbClr val="EBF5FF"/>
                </a:solidFill>
              </a:defRPr>
            </a:pPr>
            <a:r>
              <a:t>1. Filmarea #1 — Ceață Albă Densă (Avion Militar LC-130):</a:t>
            </a:r>
          </a:p>
          <a:p>
            <a:pPr>
              <a:spcAft>
                <a:spcPts val="400"/>
              </a:spcAft>
              <a:defRPr sz="1120">
                <a:solidFill>
                  <a:srgbClr val="EBF5FF"/>
                </a:solidFill>
              </a:defRPr>
            </a:pPr>
            <a:r>
              <a:t>   • Ochiul vede doar un zid alb. Programul procesează 300 cadre la 522.0 FPS, măsoară ceața și anticipează 277 rafale!</a:t>
            </a:r>
          </a:p>
          <a:p>
            <a:pPr>
              <a:spcAft>
                <a:spcPts val="400"/>
              </a:spcAft>
              <a:defRPr sz="1120">
                <a:solidFill>
                  <a:srgbClr val="EBF5FF"/>
                </a:solidFill>
              </a:defRPr>
            </a:pPr>
            <a:r>
              <a:t>2. Filmarea #2 — Apropiere pe Luminile Pistei (Paris CDG):</a:t>
            </a:r>
          </a:p>
          <a:p>
            <a:pPr>
              <a:spcAft>
                <a:spcPts val="400"/>
              </a:spcAft>
              <a:defRPr sz="1120">
                <a:solidFill>
                  <a:srgbClr val="EBF5FF"/>
                </a:solidFill>
              </a:defRPr>
            </a:pPr>
            <a:r>
              <a:t>   • Ochiul vede halouri în ceață. Programul procesează 300 cadre la 382.5 FPS și fixează 11.240 puncte luminoase ALS!</a:t>
            </a:r>
          </a:p>
          <a:p>
            <a:pPr>
              <a:spcAft>
                <a:spcPts val="400"/>
              </a:spcAft>
              <a:defRPr sz="1120">
                <a:solidFill>
                  <a:srgbClr val="EBF5FF"/>
                </a:solidFill>
              </a:defRPr>
            </a:pPr>
            <a:r>
              <a:t>3. Filmarea #3 — Aterizare pe Vânt Lateral Puternic:</a:t>
            </a:r>
          </a:p>
          <a:p>
            <a:pPr>
              <a:spcAft>
                <a:spcPts val="400"/>
              </a:spcAft>
              <a:defRPr sz="1120">
                <a:solidFill>
                  <a:srgbClr val="EBF5FF"/>
                </a:solidFill>
              </a:defRPr>
            </a:pPr>
            <a:r>
              <a:t>   • Avionul se clatină puternic. Programul procesează 225 cadre la 431.5 FPS și separă înclinarea aripilor de vânt!</a:t>
            </a:r>
          </a:p>
        </p:txBody>
      </p:sp>
      <p:pic>
        <p:nvPicPr>
          <p:cNvPr id="7" name="Picture 6" descr="chart_real_vide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98448"/>
            <a:ext cx="5577840" cy="323874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47395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9/10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E5FF"/>
                </a:solidFill>
              </a:defRPr>
            </a:pPr>
            <a:r>
              <a:t>CURSA CELOR 4 AVIOANE: DE CE NOI ATERIZĂM PE PISTĂ ȘI CEILALȚI NU?</a:t>
            </a:r>
          </a:p>
          <a:p>
            <a:pPr>
              <a:defRPr sz="1150">
                <a:solidFill>
                  <a:srgbClr val="9EC0E6"/>
                </a:solidFill>
              </a:defRPr>
            </a:pPr>
            <a:r>
              <a:t>Comparație directă la aterizarea pe Pista 09 Craiova sub ceață densă, rafală laterală și atac hacker GPS</a:t>
            </a:r>
          </a:p>
        </p:txBody>
      </p:sp>
      <p:pic>
        <p:nvPicPr>
          <p:cNvPr id="5" name="Picture 4" descr="chart_4_aircraft_ar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1155680" cy="40837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010912"/>
            <a:ext cx="11155680" cy="1298448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5120640"/>
            <a:ext cx="108630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0FF9D"/>
                </a:solidFill>
              </a:defRPr>
            </a:pPr>
            <a:r>
              <a:t>🏁 Concluzia Cursei celor 4 Sisteme la Pragul Pistei 09 Craiova:</a:t>
            </a:r>
          </a:p>
          <a:p>
            <a:pPr>
              <a:spcAft>
                <a:spcPts val="400"/>
              </a:spcAft>
              <a:defRPr sz="1150">
                <a:solidFill>
                  <a:srgbClr val="EBF5FF"/>
                </a:solidFill>
              </a:defRPr>
            </a:pPr>
            <a:r>
              <a:t>🔴 Avion Clasic cu GPS: iese pe câmp (&gt;64m eroare)   |   🟠 Doar Senzori Interni: derivă în vânt (&gt;52m)   |   🟡 Cameră Simplă: păcălită de ceață (&gt;38m)   |   🟢 AERO-SHIELD V2.0: 0.42m eroare (PE CENTRUL PISTEI!)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10/10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00E5FF"/>
                </a:solidFill>
              </a:defRPr>
            </a:pPr>
            <a:r>
              <a:t>INTERFAȚA CU 6 PAGINI SEPARATE FĂRĂ SCROLL + FILMARE REALĂ 50% PESTE GRAFIC</a:t>
            </a:r>
          </a:p>
          <a:p>
            <a:pPr>
              <a:defRPr sz="1150" b="0">
                <a:solidFill>
                  <a:srgbClr val="9EC0E6"/>
                </a:solidFill>
              </a:defRPr>
            </a:pPr>
            <a:r>
              <a:t>Cum demonstrăm live cele 6 pagini aerisite (inclusiv Pagina 5: Creierul Google Drosophila) pe http://localhost:8080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566928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1344168"/>
            <a:ext cx="537667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00E5FF"/>
                </a:solidFill>
              </a:defRPr>
            </a:pPr>
            <a:r>
              <a:t>🖥️ Ce Vede Juriul în Aplicația Web Live (6 Pagini Separate @ 60 FPS):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🗂️ Arhitectură Aerisită cu 6 Pagini Web Separate (Zero Scroll): Pagina 1 (Cockpit 3D), Pagina 2 (Radar 4 Avioane), Pagina 3 (Atac Cyber), Pagina 4 (Meteo Craiova), Pagina 5 (Creierul Google Drosophila) și Pagina 6 (Telemetrie DO-178C).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🧠 Pagina 5 Dedicată Creierului Google Drosophila: vizualizează în timp real circuitele T4/T5, derotarea HS/VS, inelul de 16 neuroni E-PG și separarea vântului PFNd!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🎥 Filmare Video Reală (.mp4) suprapusă cu TRANSPARENȚĂ 50% (opacity: 0.5) direct peste graficul 3D al Parbrizului și peste Radarul celor 4 avioane!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🇷🇴 Română Implicit + Comutator Bilingv Instantaneu (RO/EN) + Ghid Vizual în 3 Pași și „Povestitor în Timp Real”.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🎬 3 Scenarii Automate (Act 1, Act 2, Act 3) + Glisor Transparență 50% + Pilotaj din tastele WASD / QE.</a:t>
            </a:r>
          </a:p>
        </p:txBody>
      </p:sp>
      <p:pic>
        <p:nvPicPr>
          <p:cNvPr id="7" name="Picture 6" descr="hud_video_50_bl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80160"/>
            <a:ext cx="5440680" cy="306038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63640" y="4526280"/>
            <a:ext cx="5440680" cy="169164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4636008"/>
            <a:ext cx="5148072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00FF9D"/>
                </a:solidFill>
              </a:defRPr>
            </a:pPr>
            <a:r>
              <a:t>🚀 Pregătit pentru Demonstrația Live!</a:t>
            </a:r>
          </a:p>
          <a:p>
            <a:pPr>
              <a:spcAft>
                <a:spcPts val="400"/>
              </a:spcAft>
              <a:defRPr sz="1150">
                <a:solidFill>
                  <a:srgbClr val="EBF5FF"/>
                </a:solidFill>
              </a:defRPr>
            </a:pPr>
            <a:r>
              <a:t>• Deschideți http://localhost:8080 (sau http://34.12.88.28:8080).</a:t>
            </a:r>
          </a:p>
          <a:p>
            <a:pPr>
              <a:spcAft>
                <a:spcPts val="400"/>
              </a:spcAft>
              <a:defRPr sz="1150">
                <a:solidFill>
                  <a:srgbClr val="EBF5FF"/>
                </a:solidFill>
              </a:defRPr>
            </a:pPr>
            <a:r>
              <a:t>• Apăsați pe Scenariile 1, 2, 3 și reglați glisorul de transparență 50% video peste grafic în timp real!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