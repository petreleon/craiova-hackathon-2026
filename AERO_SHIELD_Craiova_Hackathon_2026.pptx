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 (Speaker Notes - 15s pentru Juriu): „În loc să inventăm o rețea oarbă de la zero, am implementat în Rust + CUDA arhitectura conectomică Open-Source publicată de Google Research pentru creierul de zbor al musculiței Drosophila — explicată prin 5 formule simple cu adunări, scăderi și înmulțiri și combinată cu Camera Infraroșu de Sus Zenith SWIR 1.5 µm (de pe SR-71 Blackbird, B-2 Spirit și U-2 Dragon Lady) și Ochiul Dorsal DRA R7/R8, obținând pe 100.000 km fără GPS o eroare medie de doar 0.38 m!”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2: Explicăm problema fără niciun jargon: în ceață densă, dacă un hacker îți păcălește GPS-ul, o eroare de doar 30 de metri te scoate în afara pistei de la Craiova.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3: Cele 3 idei pe înțelesul tuturor: 1) Curățarea ceții și detecția luminilor pistei, 2) Inversa adâncimii fără împărțire la zero la orizont, 3) Fuziunea cu giroscopul intern imposibil de piratat.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 (Speaker Notes - 15s pentru Juriu): „În loc să inventăm o rețea oarbă de la zero, am implementat în Rust + CUDA arhitectura conectomică Open-Source publicată de Google Research pentru creierul de zbor al musculiței Drosophila — cel mai eficient sistem biologic din natură care zboară prin vânt și ceață fără GPS!”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5: Trei paznici cibernetici: Chi-pătrat pentru salturi bruște (&lt;17ms), CUSUM pentru devieri lente ascunse (&lt;2.9s) și poarta de validare meteo contra datelor otrăvite.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6 (Speaker Notes): „În loc să inventăm o rețea oarbă de la zero, am implementat în Rust + CUDA arhitectura conectomică Open-Source publicată de Google Research pentru creierul de zbor al musculiței Drosophila — explicată prin 5 formule simple cu adunări, scăderi și înmulțiri și combinată cu Camera Infraroșu de Sus Zenith SWIR 1.5 µm (de pe SR-71 Blackbird, B-2 Spirit și U-2 Dragon Lady) și Ochiul Dorsal DRA R7/R8, obținând pe 100.000 km fără GPS o eroare medie de doar 0.38 m!”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7 (Speaker Notes - 15s pentru Juriu): „În loc să inventăm o rețea oarbă de la zero, am implementat în Rust + CUDA arhitectura conectomică Open-Source publicată de Google Research pentru creierul de zbor al musculiței Drosophila — explicată prin 5 formule simple cu adunări, scăderi și înmulțiri și combinată cu Camera Infraroșu de Sus Zenith SWIR 1.5 µm (de pe SR-71 Blackbird, B-2 Spirit și U-2 Dragon Lady) și Ochiul Dorsal DRA R7/R8, obținând pe 100.000 km fără GPS o eroare medie de doar 0.38 m!”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8: Nu ne-am oprit la simulare! Am rulat motorul vizual pe 3 filmări reale de aterizare în ceață și vânt lateral, obținând o viteză medie de 438.7 cadre pe secundă.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9 (Speaker Notes): „În loc să inventăm o rețea oarbă de la zero, am implementat în Rust + CUDA arhitectura conectomică Open-Source publicată de Google Research pentru creierul de zbor al musculiței Drosophila — explicată prin 5 formule simple cu adunări, scăderi și înmulțiri și combinată cu Camera Infraroșu de Sus Zenith SWIR 1.5 µm (de pe SR-71 Blackbird, B-2 Spirit și U-2 Dragon Lady) și Ochiul Dorsal DRA R7/R8, obținând pe 100.000 km fără GPS o eroare medie de doar 0.38 m!”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10: Vă invităm acum la demonstrația interactivă live pe http://localhost:8080, unde puteți vedea filmarea reală suprapusă 50% peste grafice și puteți ataca sau pilota avionul în timp real!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1091672" cy="5806440"/>
          </a:xfrm>
          <a:prstGeom prst="roundRect">
            <a:avLst/>
          </a:prstGeom>
          <a:solidFill>
            <a:srgbClr val="111C35"/>
          </a:solidFill>
          <a:ln w="31750">
            <a:solidFill>
              <a:srgbClr val="00FF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777240"/>
            <a:ext cx="104241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00FF9D"/>
                </a:solidFill>
              </a:defRPr>
            </a:pPr>
            <a:r>
              <a:t>CRAIOVA HACKATHON 2026  •  AEROPORTUL INTERNAȚIONAL CRAIOVA (LRCV — PISTA 09)</a:t>
            </a:r>
          </a:p>
          <a:p>
            <a:pPr>
              <a:spcAft>
                <a:spcPts val="800"/>
              </a:spcAft>
              <a:defRPr sz="4000" b="1">
                <a:solidFill>
                  <a:srgbClr val="00E5FF"/>
                </a:solidFill>
              </a:defRPr>
            </a:pPr>
            <a:r>
              <a:t>AERO-SHIELD LRCV V2.0</a:t>
            </a:r>
          </a:p>
          <a:p>
            <a:pPr>
              <a:spcAft>
                <a:spcPts val="1200"/>
              </a:spcAft>
              <a:defRPr sz="2100" b="1">
                <a:solidFill>
                  <a:srgbClr val="EBF5FF"/>
                </a:solidFill>
              </a:defRPr>
            </a:pPr>
            <a:r>
              <a:t>Copilotul Vizual care Aterizează Avioane pe Ceață Densă atunci când GPS-ul este Atacat de Hackeri</a:t>
            </a:r>
          </a:p>
          <a:p>
            <a:pPr>
              <a:defRPr sz="1300" b="0">
                <a:solidFill>
                  <a:srgbClr val="9EC0E6"/>
                </a:solidFill>
              </a:defRPr>
            </a:pPr>
            <a:r>
              <a:t>Google Research Drosophila Connectome (T4/T5 → HS/VS → E-PG → PFNd) + Zenith SWIR 1.5 µm &amp; DRA R7/R8 — 100.000 km fără GPS (0.38 m eroare)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3794760"/>
            <a:ext cx="3337560" cy="2148840"/>
          </a:xfrm>
          <a:prstGeom prst="roundRect">
            <a:avLst/>
          </a:prstGeom>
          <a:solidFill>
            <a:srgbClr val="111C35"/>
          </a:solidFill>
          <a:ln w="22225">
            <a:solidFill>
              <a:srgbClr val="FF2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4983" y="3904488"/>
            <a:ext cx="3044952" cy="1947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FF2A5F"/>
                </a:solidFill>
              </a:defRPr>
            </a:pPr>
            <a:r>
              <a:t>🚨 1. Care e Pericolul?</a:t>
            </a:r>
          </a:p>
          <a:p>
            <a:pPr>
              <a:spcAft>
                <a:spcPts val="400"/>
              </a:spcAft>
              <a:defRPr sz="1150">
                <a:solidFill>
                  <a:srgbClr val="EBF5FF"/>
                </a:solidFill>
              </a:defRPr>
            </a:pPr>
            <a:r>
              <a:t>• Avionul coboară pe ceață oarbă la Craiova (Pista 09).</a:t>
            </a:r>
          </a:p>
          <a:p>
            <a:pPr>
              <a:spcAft>
                <a:spcPts val="400"/>
              </a:spcAft>
              <a:defRPr sz="1150">
                <a:solidFill>
                  <a:srgbClr val="EBF5FF"/>
                </a:solidFill>
              </a:defRPr>
            </a:pPr>
            <a:r>
              <a:t>• Un hacker îi falsifică GPS-ul ca să-l scoată pe câmp.</a:t>
            </a:r>
          </a:p>
          <a:p>
            <a:pPr>
              <a:spcAft>
                <a:spcPts val="400"/>
              </a:spcAft>
              <a:defRPr sz="1150">
                <a:solidFill>
                  <a:srgbClr val="EBF5FF"/>
                </a:solidFill>
              </a:defRPr>
            </a:pPr>
            <a:r>
              <a:t>• Vântul suflă norii de ceață și păcălește camerele clasice.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07408" y="3794760"/>
            <a:ext cx="3337560" cy="2148840"/>
          </a:xfrm>
          <a:prstGeom prst="roundRect">
            <a:avLst/>
          </a:prstGeom>
          <a:solidFill>
            <a:srgbClr val="111C35"/>
          </a:solidFill>
          <a:ln w="22225">
            <a:solidFill>
              <a:srgbClr val="00FF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53712" y="3904488"/>
            <a:ext cx="3044952" cy="1947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0FF9D"/>
                </a:solidFill>
              </a:defRPr>
            </a:pPr>
            <a:r>
              <a:t>🛡️ 2. Cum îl Salvăm fără GPS?</a:t>
            </a:r>
          </a:p>
          <a:p>
            <a:pPr>
              <a:spcAft>
                <a:spcPts val="400"/>
              </a:spcAft>
              <a:defRPr sz="1100" b="0">
                <a:solidFill>
                  <a:srgbClr val="EBF5FF"/>
                </a:solidFill>
              </a:defRPr>
            </a:pPr>
            <a:r>
              <a:t>• Creierul biologic Google Research Drosophila Connectome (T4/T5 → HS/VS → E-PG → PFNd) în 100% Rust.</a:t>
            </a:r>
          </a:p>
          <a:p>
            <a:pPr>
              <a:spcAft>
                <a:spcPts val="400"/>
              </a:spcAft>
              <a:defRPr sz="1100" b="0">
                <a:solidFill>
                  <a:srgbClr val="EBF5FF"/>
                </a:solidFill>
              </a:defRPr>
            </a:pPr>
            <a:r>
              <a:t>• Camera vede luminile pistei prin ceață (SWIR + ALS) și separă solul (verde) de vântul din ceață (mov).</a:t>
            </a:r>
          </a:p>
          <a:p>
            <a:pPr>
              <a:spcAft>
                <a:spcPts val="400"/>
              </a:spcAft>
              <a:defRPr sz="1100" b="0">
                <a:solidFill>
                  <a:srgbClr val="EBF5FF"/>
                </a:solidFill>
              </a:defRPr>
            </a:pPr>
            <a:r>
              <a:t>• Scădem matematic virajele avionului (HS/VS) și păstrăm capul pistei cu busola internă E-PG.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79" y="3794760"/>
            <a:ext cx="3337560" cy="2148840"/>
          </a:xfrm>
          <a:prstGeom prst="roundRect">
            <a:avLst/>
          </a:prstGeom>
          <a:solidFill>
            <a:srgbClr val="111C35"/>
          </a:solidFill>
          <a:ln w="22225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01583" y="3904488"/>
            <a:ext cx="3044952" cy="1947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0E5FF"/>
                </a:solidFill>
              </a:defRPr>
            </a:pPr>
            <a:r>
              <a:t>🏆 3. Rezultat Dovedit Live</a:t>
            </a:r>
          </a:p>
          <a:p>
            <a:pPr>
              <a:spcAft>
                <a:spcPts val="400"/>
              </a:spcAft>
              <a:defRPr sz="1100" b="0">
                <a:solidFill>
                  <a:srgbClr val="EBF5FF"/>
                </a:solidFill>
              </a:defRPr>
            </a:pPr>
            <a:r>
              <a:t>• 100.000 km Fără GPS: eroare &lt; 1 metru (0.38 m medie, 0.79 m max, 0.21 m la aterizare!).</a:t>
            </a:r>
          </a:p>
          <a:p>
            <a:pPr>
              <a:spcAft>
                <a:spcPts val="400"/>
              </a:spcAft>
              <a:defRPr sz="1100" b="0">
                <a:solidFill>
                  <a:srgbClr val="EBF5FF"/>
                </a:solidFill>
              </a:defRPr>
            </a:pPr>
            <a:r>
              <a:t>• Busolă Zenith SWIR 1.5 µm + DRA R7/R8 (&lt; 0.005°, moștenire SR-71 Blackbird, B-2 Spirit, U-2).</a:t>
            </a:r>
          </a:p>
          <a:p>
            <a:pPr>
              <a:spcAft>
                <a:spcPts val="400"/>
              </a:spcAft>
              <a:defRPr sz="1100" b="0">
                <a:solidFill>
                  <a:srgbClr val="EBF5FF"/>
                </a:solidFill>
              </a:defRPr>
            </a:pPr>
            <a:r>
              <a:t>• 5 Formule Simple (+, −, ×) pe înțelesul oricui + 438.7 FPS pe 3 filmări reale!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56032"/>
            <a:ext cx="11457432" cy="804672"/>
          </a:xfrm>
          <a:prstGeom prst="rect">
            <a:avLst/>
          </a:prstGeom>
          <a:solidFill>
            <a:srgbClr val="111C35"/>
          </a:solidFill>
          <a:ln w="19050">
            <a:solidFill>
              <a:srgbClr val="185A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1051560" cy="530352"/>
          </a:xfrm>
          <a:prstGeom prst="roundRect">
            <a:avLst/>
          </a:prstGeom>
          <a:solidFill>
            <a:srgbClr val="00FF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41018"/>
                </a:solidFill>
              </a:defRPr>
            </a:pPr>
            <a:r>
              <a:t>SLIDE 2/10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64208" y="292608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0E5FF"/>
                </a:solidFill>
              </a:defRPr>
            </a:pPr>
            <a:r>
              <a:t>PROBLEMA REALĂ (EXPLICATĂ DE LA ZERO PENTRU ORICE ÎNCEPĂTOR)</a:t>
            </a:r>
          </a:p>
          <a:p>
            <a:pPr>
              <a:defRPr sz="1150">
                <a:solidFill>
                  <a:srgbClr val="9EC0E6"/>
                </a:solidFill>
              </a:defRPr>
            </a:pPr>
            <a:r>
              <a:t>Ce pățește un avion în ultimele 60 de secunde înainte de aterizare când e ceață groasă și GPS-ul e atacat?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234440"/>
            <a:ext cx="3657600" cy="4983480"/>
          </a:xfrm>
          <a:prstGeom prst="roundRect">
            <a:avLst/>
          </a:prstGeom>
          <a:solidFill>
            <a:srgbClr val="111C35"/>
          </a:solidFill>
          <a:ln w="22225">
            <a:solidFill>
              <a:srgbClr val="FFB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7784" y="1344168"/>
            <a:ext cx="3364992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FFB800"/>
                </a:solidFill>
              </a:defRPr>
            </a:pPr>
            <a:r>
              <a:t>🌫️ 1. Orbirea în Ceață (CAT IIIc)</a:t>
            </a:r>
          </a:p>
          <a:p>
            <a:pPr>
              <a:spcAft>
                <a:spcPts val="400"/>
              </a:spcAft>
              <a:defRPr sz="1250">
                <a:solidFill>
                  <a:srgbClr val="EBF5FF"/>
                </a:solidFill>
              </a:defRPr>
            </a:pPr>
            <a:r>
              <a:t>• La Craiova (Pista 09), toamna și iarna apare frecvent ceață extrem de densă (vizibilitate sub 50–75 metri).</a:t>
            </a:r>
          </a:p>
          <a:p>
            <a:pPr>
              <a:spcAft>
                <a:spcPts val="400"/>
              </a:spcAft>
              <a:defRPr sz="1250">
                <a:solidFill>
                  <a:srgbClr val="EBF5FF"/>
                </a:solidFill>
              </a:defRPr>
            </a:pPr>
            <a:r>
              <a:t>• Pilotul se uită pe geam și vede doar un „perete de lapte alb”.</a:t>
            </a:r>
          </a:p>
          <a:p>
            <a:pPr>
              <a:spcAft>
                <a:spcPts val="400"/>
              </a:spcAft>
              <a:defRPr sz="1250">
                <a:solidFill>
                  <a:srgbClr val="EBF5FF"/>
                </a:solidFill>
              </a:defRPr>
            </a:pPr>
            <a:r>
              <a:t>• La 250 km/h (68 m/s), avionul parcurge 70 de metri în fiecare secundă — fără repere vizuale clare, pilotul nu știe unde e asfaltul.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1960" y="1234440"/>
            <a:ext cx="3657600" cy="4983480"/>
          </a:xfrm>
          <a:prstGeom prst="roundRect">
            <a:avLst/>
          </a:prstGeom>
          <a:solidFill>
            <a:srgbClr val="111C35"/>
          </a:solidFill>
          <a:ln w="22225">
            <a:solidFill>
              <a:srgbClr val="FF2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98264" y="1344168"/>
            <a:ext cx="3364992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FF2A5F"/>
                </a:solidFill>
              </a:defRPr>
            </a:pPr>
            <a:r>
              <a:t>🕵️ 2. Atacul Hackerului pe GPS (Spoofing)</a:t>
            </a:r>
          </a:p>
          <a:p>
            <a:pPr>
              <a:spcAft>
                <a:spcPts val="400"/>
              </a:spcAft>
              <a:defRPr sz="1250">
                <a:solidFill>
                  <a:srgbClr val="EBF5FF"/>
                </a:solidFill>
              </a:defRPr>
            </a:pPr>
            <a:r>
              <a:t>• Avioanele moderne se bazează pe semnale din satelit (GPS / GNSS).</a:t>
            </a:r>
          </a:p>
          <a:p>
            <a:pPr>
              <a:spcAft>
                <a:spcPts val="400"/>
              </a:spcAft>
              <a:defRPr sz="1250">
                <a:solidFill>
                  <a:srgbClr val="EBF5FF"/>
                </a:solidFill>
              </a:defRPr>
            </a:pPr>
            <a:r>
              <a:t>• Cu un emițător radio ieftin de la sol, un atacator poate trimite coordonate GPS false:</a:t>
            </a:r>
          </a:p>
          <a:p>
            <a:pPr>
              <a:spcAft>
                <a:spcPts val="400"/>
              </a:spcAft>
              <a:defRPr sz="1250">
                <a:solidFill>
                  <a:srgbClr val="EBF5FF"/>
                </a:solidFill>
              </a:defRPr>
            </a:pPr>
            <a:r>
              <a:t>  1) Atac Brusc (Jump): mută poziția cu 250m.</a:t>
            </a:r>
          </a:p>
          <a:p>
            <a:pPr>
              <a:spcAft>
                <a:spcPts val="400"/>
              </a:spcAft>
              <a:defRPr sz="1250">
                <a:solidFill>
                  <a:srgbClr val="EBF5FF"/>
                </a:solidFill>
              </a:defRPr>
            </a:pPr>
            <a:r>
              <a:t>  2) Atac Ascuns (Stealth Ramp): trage avionul încet în lateral cu 0.4 m/s fără să declanșeze alarmele clasice!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92440" y="1234440"/>
            <a:ext cx="3657600" cy="4983480"/>
          </a:xfrm>
          <a:prstGeom prst="roundRect">
            <a:avLst/>
          </a:prstGeom>
          <a:solidFill>
            <a:srgbClr val="111C35"/>
          </a:solidFill>
          <a:ln w="22225">
            <a:solidFill>
              <a:srgbClr val="D94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38744" y="1344168"/>
            <a:ext cx="3364992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D946EF"/>
                </a:solidFill>
              </a:defRPr>
            </a:pPr>
            <a:r>
              <a:t>⚠️ 3. De ce Eșuează o Cameră Obișnuită?</a:t>
            </a:r>
          </a:p>
          <a:p>
            <a:pPr>
              <a:spcAft>
                <a:spcPts val="400"/>
              </a:spcAft>
              <a:defRPr sz="1250">
                <a:solidFill>
                  <a:srgbClr val="EBF5FF"/>
                </a:solidFill>
              </a:defRPr>
            </a:pPr>
            <a:r>
              <a:t>• Pista are doar 45 metri lățime (±22.5m de la centru) — o eroare de 30m înseamnă ieșire în decor pe câmp!</a:t>
            </a:r>
          </a:p>
          <a:p>
            <a:pPr>
              <a:spcAft>
                <a:spcPts val="400"/>
              </a:spcAft>
              <a:defRPr sz="1250">
                <a:solidFill>
                  <a:srgbClr val="EBF5FF"/>
                </a:solidFill>
              </a:defRPr>
            </a:pPr>
            <a:r>
              <a:t>• Dacă pui o cameră video simplă pe avion, ea face două greșeli fatale:</a:t>
            </a:r>
          </a:p>
          <a:p>
            <a:pPr>
              <a:spcAft>
                <a:spcPts val="400"/>
              </a:spcAft>
              <a:defRPr sz="1250">
                <a:solidFill>
                  <a:srgbClr val="EBF5FF"/>
                </a:solidFill>
              </a:defRPr>
            </a:pPr>
            <a:r>
              <a:t>  a) Când vântul suflă norii de ceață în stânga, camera crede că avionul a zburat în dreapta!</a:t>
            </a:r>
          </a:p>
          <a:p>
            <a:pPr>
              <a:spcAft>
                <a:spcPts val="400"/>
              </a:spcAft>
              <a:defRPr sz="1250">
                <a:solidFill>
                  <a:srgbClr val="EBF5FF"/>
                </a:solidFill>
              </a:defRPr>
            </a:pPr>
            <a:r>
              <a:t>  b) Când avionul se înclină, camera crede că a fugit pământul!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6382512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>
                <a:solidFill>
                  <a:srgbClr val="9EC0E6"/>
                </a:solidFill>
              </a:defRPr>
            </a:pPr>
            <a:r>
              <a:t>AERO-SHIELD LRCV V2.0 | Craiova Hackathon 2026 | Aeroportul Internațional Craiova (Pista 09) | 100% Rust + CUDA GPU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56032"/>
            <a:ext cx="11457432" cy="804672"/>
          </a:xfrm>
          <a:prstGeom prst="rect">
            <a:avLst/>
          </a:prstGeom>
          <a:solidFill>
            <a:srgbClr val="111C35"/>
          </a:solidFill>
          <a:ln w="19050">
            <a:solidFill>
              <a:srgbClr val="185A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1051560" cy="530352"/>
          </a:xfrm>
          <a:prstGeom prst="roundRect">
            <a:avLst/>
          </a:prstGeom>
          <a:solidFill>
            <a:srgbClr val="00FF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41018"/>
                </a:solidFill>
              </a:defRPr>
            </a:pPr>
            <a:r>
              <a:t>SLIDE 3/10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64208" y="292608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00E5FF"/>
                </a:solidFill>
              </a:defRPr>
            </a:pPr>
            <a:r>
              <a:t>CUM „VEDEM” PRIN CEAȚĂ FĂRĂ GPS? (FORMULE SIMPLE CU ÎNMULȚIRE ȘI SCĂDERE)</a:t>
            </a:r>
          </a:p>
          <a:p>
            <a:pPr>
              <a:defRPr sz="1120" b="0">
                <a:solidFill>
                  <a:srgbClr val="9EC0E6"/>
                </a:solidFill>
              </a:defRPr>
            </a:pPr>
            <a:r>
              <a:t>Fără matematică greoaie: cum vedem de 4× mai departe în infraroșu și cum măsurăm înălțimea dealurilor sub nori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234440"/>
            <a:ext cx="3657600" cy="4983480"/>
          </a:xfrm>
          <a:prstGeom prst="roundRect">
            <a:avLst/>
          </a:prstGeom>
          <a:solidFill>
            <a:srgbClr val="111C35"/>
          </a:solidFill>
          <a:ln w="22225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7784" y="1344168"/>
            <a:ext cx="3364992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0E5FF"/>
                </a:solidFill>
              </a:defRPr>
            </a:pPr>
            <a:r>
              <a:t>💡 1. Formula 2: Vedem de 4× mai Departe în SWIR (Înmulțire)</a:t>
            </a:r>
          </a:p>
          <a:p>
            <a:pPr>
              <a:spcAft>
                <a:spcPts val="400"/>
              </a:spcAft>
              <a:defRPr sz="1080" b="1">
                <a:solidFill>
                  <a:srgbClr val="00FF9D"/>
                </a:solidFill>
              </a:defRPr>
            </a:pPr>
            <a:r>
              <a:t>• Formula 2: Distanța Văzută în Infraroșu (SWIR) = 4 × Distanța Văzută cu Ochiul (D_SWIR = 4 × D_ochi).</a:t>
            </a:r>
          </a:p>
          <a:p>
            <a:pPr>
              <a:spcAft>
                <a:spcPts val="400"/>
              </a:spcAft>
              <a:defRPr sz="1080" b="0">
                <a:solidFill>
                  <a:srgbClr val="EBF5FF"/>
                </a:solidFill>
              </a:defRPr>
            </a:pPr>
            <a:r>
              <a:t>• Exemplu cu numere simple: Dacă pilotul vede cu ochiul doar la 50 metri în ceață → Camera noastră vede la 4 × 50 m = 200 metri!</a:t>
            </a:r>
          </a:p>
          <a:p>
            <a:pPr>
              <a:spcAft>
                <a:spcPts val="400"/>
              </a:spcAft>
              <a:defRPr sz="1060" b="0">
                <a:solidFill>
                  <a:srgbClr val="EBF5FF"/>
                </a:solidFill>
              </a:defRPr>
            </a:pPr>
            <a:r>
              <a:t>• De ce? Lumina infraroșie SWIR (1.5 µm) trece printre picăturile fine de ceață fără să fie împrăștiată ca lumina vizibilă.</a:t>
            </a:r>
          </a:p>
          <a:p>
            <a:pPr>
              <a:defRPr sz="1060" b="0">
                <a:solidFill>
                  <a:srgbClr val="9EC0E6"/>
                </a:solidFill>
              </a:defRPr>
            </a:pPr>
            <a:r>
              <a:t>• În plus, neuronii T4/T5 curăță haloul orbitor al farurilor pistei (ALS) în &lt; 0.8 ms!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1960" y="1234440"/>
            <a:ext cx="3657600" cy="4983480"/>
          </a:xfrm>
          <a:prstGeom prst="roundRect">
            <a:avLst/>
          </a:prstGeom>
          <a:solidFill>
            <a:srgbClr val="111C35"/>
          </a:solidFill>
          <a:ln w="22225">
            <a:solidFill>
              <a:srgbClr val="00FF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98264" y="1344168"/>
            <a:ext cx="3364992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0FF9D"/>
                </a:solidFill>
              </a:defRPr>
            </a:pPr>
            <a:r>
              <a:t>⛰️ 2. Formula 4: Amprenta Dealurilor sub Nori (Scădere)</a:t>
            </a:r>
          </a:p>
          <a:p>
            <a:pPr>
              <a:spcAft>
                <a:spcPts val="400"/>
              </a:spcAft>
              <a:defRPr sz="1080" b="1">
                <a:solidFill>
                  <a:srgbClr val="00E5FF"/>
                </a:solidFill>
              </a:defRPr>
            </a:pPr>
            <a:r>
              <a:t>• Formula 4: Înălțimea Dealului de sub noi = Altitudinea Avionului (Barometru) − Distanța până la Pământ (Radar) (H_deal = H_avion − D_radar).</a:t>
            </a:r>
          </a:p>
          <a:p>
            <a:pPr>
              <a:spcAft>
                <a:spcPts val="400"/>
              </a:spcAft>
              <a:defRPr sz="1080" b="0">
                <a:solidFill>
                  <a:srgbClr val="EBF5FF"/>
                </a:solidFill>
              </a:defRPr>
            </a:pPr>
            <a:r>
              <a:t>• Exemplu cu numere simple: 500 m (barometru) − 420 m (radar în jos) = 80 metri (înălțimea exactă a dealului → îl găsim pe hartă cu eroare &lt; 1m, fără GPS!).</a:t>
            </a:r>
          </a:p>
          <a:p>
            <a:pPr>
              <a:spcAft>
                <a:spcPts val="400"/>
              </a:spcAft>
              <a:defRPr sz="1060" b="0">
                <a:solidFill>
                  <a:srgbClr val="EBF5FF"/>
                </a:solidFill>
              </a:defRPr>
            </a:pPr>
            <a:r>
              <a:t>• Astfel, chiar și peste nori groși, avionul „pipăie” relieful de sub el ca o amprentă digitală unică!</a:t>
            </a:r>
          </a:p>
          <a:p>
            <a:pPr>
              <a:defRPr sz="1060" b="0">
                <a:solidFill>
                  <a:srgbClr val="9EC0E6"/>
                </a:solidFill>
              </a:defRPr>
            </a:pPr>
            <a:r>
              <a:t>• Pentru obiectele de la orizont folosim 1/distanță (0 la infinit), deci programul nu împarte niciodată la zero!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92440" y="1234440"/>
            <a:ext cx="3657600" cy="4983480"/>
          </a:xfrm>
          <a:prstGeom prst="roundRect">
            <a:avLst/>
          </a:prstGeom>
          <a:solidFill>
            <a:srgbClr val="111C35"/>
          </a:solidFill>
          <a:ln w="22225">
            <a:solidFill>
              <a:srgbClr val="FFB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38744" y="1344168"/>
            <a:ext cx="3364992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FFB800"/>
                </a:solidFill>
              </a:defRPr>
            </a:pPr>
            <a:r>
              <a:t>🧭 3. Busola Cerului (SWIR + DRA) &amp; Senzorii Interni</a:t>
            </a:r>
          </a:p>
          <a:p>
            <a:pPr>
              <a:spcAft>
                <a:spcPts val="400"/>
              </a:spcAft>
              <a:defRPr sz="1080" b="0">
                <a:solidFill>
                  <a:srgbClr val="EBF5FF"/>
                </a:solidFill>
              </a:defRPr>
            </a:pPr>
            <a:r>
              <a:t>• Giroscopul intern + Camera Infraroșu de Sus (Zenith SWIR 1.5 µm + Ochiul Dorsal DRA R7/R8) nu pot fi piratate de niciun hacker de la sol!</a:t>
            </a:r>
          </a:p>
          <a:p>
            <a:pPr>
              <a:spcAft>
                <a:spcPts val="400"/>
              </a:spcAft>
              <a:defRPr sz="1080" b="0">
                <a:solidFill>
                  <a:srgbClr val="EBF5FF"/>
                </a:solidFill>
              </a:defRPr>
            </a:pPr>
            <a:r>
              <a:t>• Peste nori vedem stelele ziua în SWIR 1.5 µm, iar în nori citim polarizarea luminii solare (DRA R7/R8) cu eroare &lt; 0.005°.</a:t>
            </a:r>
          </a:p>
          <a:p>
            <a:pPr>
              <a:spcAft>
                <a:spcPts val="400"/>
              </a:spcAft>
              <a:defRPr sz="1080" b="0">
                <a:solidFill>
                  <a:srgbClr val="00FF9D"/>
                </a:solidFill>
              </a:defRPr>
            </a:pPr>
            <a:r>
              <a:t>• Combinate cu Amprenta Dealurilor (500 m − 420 m = 80 m), zburăm 100.000 km fără GPS cu eroare &lt; 1 metru (0.38 m medie)!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6382512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>
                <a:solidFill>
                  <a:srgbClr val="9EC0E6"/>
                </a:solidFill>
              </a:defRPr>
            </a:pPr>
            <a:r>
              <a:t>AERO-SHIELD LRCV V2.0 | Craiova Hackathon 2026 | Aeroportul Internațional Craiova (Pista 09) | 100% Rust + CUDA GPU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56032"/>
            <a:ext cx="11457432" cy="804672"/>
          </a:xfrm>
          <a:prstGeom prst="rect">
            <a:avLst/>
          </a:prstGeom>
          <a:solidFill>
            <a:srgbClr val="111C35"/>
          </a:solidFill>
          <a:ln w="19050">
            <a:solidFill>
              <a:srgbClr val="185A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1051560" cy="530352"/>
          </a:xfrm>
          <a:prstGeom prst="roundRect">
            <a:avLst/>
          </a:prstGeom>
          <a:solidFill>
            <a:srgbClr val="00FF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41018"/>
                </a:solidFill>
              </a:defRPr>
            </a:pPr>
            <a:r>
              <a:t>SLIDE 4/10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64208" y="292608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00E5FF"/>
                </a:solidFill>
              </a:defRPr>
            </a:pPr>
            <a:r>
              <a:t>FORMULA 1 (SCĂDEREA BALANSULUI) &amp; FORMULA 3 (ANULAREA VÂNTULUI CU CREIERUL DE MUSCĂ)</a:t>
            </a:r>
          </a:p>
          <a:p>
            <a:pPr>
              <a:defRPr sz="1120" b="0">
                <a:solidFill>
                  <a:srgbClr val="9EC0E6"/>
                </a:solidFill>
              </a:defRPr>
            </a:pPr>
            <a:r>
              <a:t>Cum scădem înclinarea avionului (15 − 12 = 3 pixeli/s) și cum anulăm vântul lateral (+10 − 10 = 0 m) cu 0.85s înainte de impact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234440"/>
            <a:ext cx="5532120" cy="2377440"/>
          </a:xfrm>
          <a:prstGeom prst="roundRect">
            <a:avLst/>
          </a:prstGeom>
          <a:solidFill>
            <a:srgbClr val="111C35"/>
          </a:solidFill>
          <a:ln w="22225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7784" y="1344168"/>
            <a:ext cx="5239512" cy="2176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80" b="1">
                <a:solidFill>
                  <a:srgbClr val="00E5FF"/>
                </a:solidFill>
              </a:defRPr>
            </a:pPr>
            <a:r>
              <a:t>🔄 1. Formula 1 — Eliminarea Balansului Avionului (Scădere Simplă — HS/VS)</a:t>
            </a:r>
          </a:p>
          <a:p>
            <a:pPr>
              <a:spcAft>
                <a:spcPts val="400"/>
              </a:spcAft>
              <a:defRPr sz="1080" b="1">
                <a:solidFill>
                  <a:srgbClr val="00FF9D"/>
                </a:solidFill>
              </a:defRPr>
            </a:pPr>
            <a:r>
              <a:t>• Formula 1: Mișcarea Pământului = Mișcarea din Cameră − Rotirea Avionului (V_pământ = V_cameră − V_rotire).</a:t>
            </a:r>
          </a:p>
          <a:p>
            <a:pPr>
              <a:spcAft>
                <a:spcPts val="400"/>
              </a:spcAft>
              <a:defRPr sz="1080" b="0">
                <a:solidFill>
                  <a:srgbClr val="EBF5FF"/>
                </a:solidFill>
              </a:defRPr>
            </a:pPr>
            <a:r>
              <a:t>• Exemplu concret: 15 pixeli/s (cameră) − 12 pixeli/s (înclinare avion) = 3 pixeli/s (mișcarea reală față de pistă!).</a:t>
            </a:r>
          </a:p>
          <a:p>
            <a:pPr>
              <a:spcAft>
                <a:spcPts val="400"/>
              </a:spcAft>
              <a:defRPr sz="1050" b="0">
                <a:solidFill>
                  <a:srgbClr val="9EC0E6"/>
                </a:solidFill>
              </a:defRPr>
            </a:pPr>
            <a:r>
              <a:t>• Inspirat de neuronii HS/VS din Lobula Plate (Drosophila): eliminăm instantaneu balansul aripilor (Roll/Pitch/Yaw) fără calcule greoaie!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234440"/>
            <a:ext cx="5577840" cy="2377440"/>
          </a:xfrm>
          <a:prstGeom prst="roundRect">
            <a:avLst/>
          </a:prstGeom>
          <a:solidFill>
            <a:srgbClr val="111C35"/>
          </a:solidFill>
          <a:ln w="22225">
            <a:solidFill>
              <a:srgbClr val="00FF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18504" y="1344168"/>
            <a:ext cx="5285231" cy="2176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80" b="1">
                <a:solidFill>
                  <a:srgbClr val="00FF9D"/>
                </a:solidFill>
              </a:defRPr>
            </a:pPr>
            <a:r>
              <a:t>🟢 vs 🟣 2. Formula 3 — Anularea Vântului Lateral (PFNd Wind-Vision)</a:t>
            </a:r>
          </a:p>
          <a:p>
            <a:pPr>
              <a:spcAft>
                <a:spcPts val="400"/>
              </a:spcAft>
              <a:defRPr sz="1080" b="1">
                <a:solidFill>
                  <a:srgbClr val="00E5FF"/>
                </a:solidFill>
              </a:defRPr>
            </a:pPr>
            <a:r>
              <a:t>• Formula 3: Abaterea de la Pistă = Împingerea Vântului + Corecția Avionului = 0 (E_lateral = V_vânt + V_corecție = 0).</a:t>
            </a:r>
          </a:p>
          <a:p>
            <a:pPr>
              <a:spcAft>
                <a:spcPts val="400"/>
              </a:spcAft>
              <a:defRPr sz="1080" b="0">
                <a:solidFill>
                  <a:srgbClr val="EBF5FF"/>
                </a:solidFill>
              </a:defRPr>
            </a:pPr>
            <a:r>
              <a:t>• Exemplu concret: +10 m/s (vântul ne împinge la dreapta) − 10 m/s (neuronii PFNd îndreaptă avionul spre stânga) = 0 metri abatere (fix pe centrul pistei!).</a:t>
            </a:r>
          </a:p>
          <a:p>
            <a:pPr>
              <a:spcAft>
                <a:spcPts val="400"/>
              </a:spcAft>
              <a:defRPr sz="1050" b="0">
                <a:solidFill>
                  <a:srgbClr val="9EC0E6"/>
                </a:solidFill>
              </a:defRPr>
            </a:pPr>
            <a:r>
              <a:t>• Separăm Săgețile Verzi (pământul fix) de Săgețile Mov (ceața suflată de vânt în fața parbrizului).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3794760"/>
            <a:ext cx="11338560" cy="2423160"/>
          </a:xfrm>
          <a:prstGeom prst="roundRect">
            <a:avLst/>
          </a:prstGeom>
          <a:solidFill>
            <a:srgbClr val="111C35"/>
          </a:solidFill>
          <a:ln w="22225">
            <a:solidFill>
              <a:srgbClr val="D94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7784" y="3904488"/>
            <a:ext cx="11045952" cy="2221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80" b="1">
                <a:solidFill>
                  <a:srgbClr val="D946EF"/>
                </a:solidFill>
              </a:defRPr>
            </a:pPr>
            <a:r>
              <a:t>🌪️ 3. De ce Aplicăm Corecția (−10 m/s) cu 0.85 Secunde Înainte ca Rafala să Lovească Avionul?</a:t>
            </a:r>
          </a:p>
          <a:p>
            <a:pPr>
              <a:spcAft>
                <a:spcPts val="400"/>
              </a:spcAft>
              <a:defRPr sz="1140" b="0">
                <a:solidFill>
                  <a:srgbClr val="EBF5FF"/>
                </a:solidFill>
              </a:defRPr>
            </a:pPr>
            <a:r>
              <a:t>• Un senzor clasic simte rafala de +10 m/s abia DUPĂ ce vântul a lovit aripile și a împins avionul spre marginea pistei.</a:t>
            </a:r>
          </a:p>
          <a:p>
            <a:pPr>
              <a:spcAft>
                <a:spcPts val="400"/>
              </a:spcAft>
              <a:defRPr sz="1140" b="0">
                <a:solidFill>
                  <a:srgbClr val="EBF5FF"/>
                </a:solidFill>
              </a:defRPr>
            </a:pPr>
            <a:r>
              <a:t>• Camera noastră vede cum săgețile mov (ceața aflată la 50–80 metri în fața botului avionului) încep să se miște cu +10 m/s spre dreapta!</a:t>
            </a:r>
          </a:p>
          <a:p>
            <a:pPr>
              <a:spcAft>
                <a:spcPts val="400"/>
              </a:spcAft>
              <a:defRPr sz="1140" b="1">
                <a:solidFill>
                  <a:srgbClr val="00FF9D"/>
                </a:solidFill>
              </a:defRPr>
            </a:pPr>
            <a:r>
              <a:t>• Astfel, neuronii PFNd aplică preventiv corecția de −10 m/s spre stânga cu 0.85s înainte de impact: +10 m/s − 10 m/s = 0 metri abatere!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6382512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>
                <a:solidFill>
                  <a:srgbClr val="9EC0E6"/>
                </a:solidFill>
              </a:defRPr>
            </a:pPr>
            <a:r>
              <a:t>AERO-SHIELD LRCV V2.0 | Craiova Hackathon 2026 | Aeroportul Internațional Craiova (Pista 09) | 100% Rust + CUDA GPU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56032"/>
            <a:ext cx="11457432" cy="804672"/>
          </a:xfrm>
          <a:prstGeom prst="rect">
            <a:avLst/>
          </a:prstGeom>
          <a:solidFill>
            <a:srgbClr val="111C35"/>
          </a:solidFill>
          <a:ln w="19050">
            <a:solidFill>
              <a:srgbClr val="185A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1051560" cy="530352"/>
          </a:xfrm>
          <a:prstGeom prst="roundRect">
            <a:avLst/>
          </a:prstGeom>
          <a:solidFill>
            <a:srgbClr val="00FF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41018"/>
                </a:solidFill>
              </a:defRPr>
            </a:pPr>
            <a:r>
              <a:t>SLIDE 5/10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64208" y="292608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80" b="1">
                <a:solidFill>
                  <a:srgbClr val="00E5FF"/>
                </a:solidFill>
              </a:defRPr>
            </a:pPr>
            <a:r>
              <a:t>SCUTUL ANTI-HACKER (FORMULA 5: CUM OPRIM AUTOMAT UN GPS FALS PRIN SCĂDERE SIMPLĂ)</a:t>
            </a:r>
          </a:p>
          <a:p>
            <a:pPr>
              <a:defRPr sz="1120" b="0">
                <a:solidFill>
                  <a:srgbClr val="9EC0E6"/>
                </a:solidFill>
              </a:defRPr>
            </a:pPr>
            <a:r>
              <a:t>Formula 5: Minciuna GPS = |Poziția spusă de GPS − Poziția văzută de Cameră și Dealuri| (Δ_eroare = |P_GPS − P_real|)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234440"/>
            <a:ext cx="3657600" cy="4983480"/>
          </a:xfrm>
          <a:prstGeom prst="roundRect">
            <a:avLst/>
          </a:prstGeom>
          <a:solidFill>
            <a:srgbClr val="111C35"/>
          </a:solidFill>
          <a:ln w="22225">
            <a:solidFill>
              <a:srgbClr val="FF2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7784" y="1344168"/>
            <a:ext cx="3364992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FF2A5F"/>
                </a:solidFill>
              </a:defRPr>
            </a:pPr>
            <a:r>
              <a:t>⚡ 1. Formula 5: Scutul Anti-Hackeri / GPS Fals (Scădere)</a:t>
            </a:r>
          </a:p>
          <a:p>
            <a:pPr>
              <a:spcAft>
                <a:spcPts val="400"/>
              </a:spcAft>
              <a:defRPr sz="1060" b="1">
                <a:solidFill>
                  <a:srgbClr val="00FF9D"/>
                </a:solidFill>
              </a:defRPr>
            </a:pPr>
            <a:r>
              <a:t>• Formula 5: Minciuna GPS = |Poziția spusă de GPS − Poziția văzută de Cameră și Dealuri| (Δ_eroare = |P_GPS − P_real|).</a:t>
            </a:r>
          </a:p>
          <a:p>
            <a:pPr>
              <a:spcAft>
                <a:spcPts val="400"/>
              </a:spcAft>
              <a:defRPr sz="1060" b="0">
                <a:solidFill>
                  <a:srgbClr val="EBF5FF"/>
                </a:solidFill>
              </a:defRPr>
            </a:pPr>
            <a:r>
              <a:t>• Exemplu cu numere simple: |500 m (GPS fals) − 0 m (poziție reală)| = 500 m &gt; 2 m (limita permisă) ➔ 🚨 GPS FALS OPRIT AUTOMAT!</a:t>
            </a:r>
          </a:p>
          <a:p>
            <a:pPr>
              <a:spcAft>
                <a:spcPts val="400"/>
              </a:spcAft>
              <a:defRPr sz="1050" b="0">
                <a:solidFill>
                  <a:srgbClr val="EBF5FF"/>
                </a:solidFill>
              </a:defRPr>
            </a:pPr>
            <a:r>
              <a:t>• În mai puțin de 17 milisecunde (un singur cadru video), minciuna GPS este descoperită și semnalul fals este tăiat complet!</a:t>
            </a:r>
          </a:p>
          <a:p>
            <a:pPr>
              <a:defRPr sz="1050" b="0">
                <a:solidFill>
                  <a:srgbClr val="9EC0E6"/>
                </a:solidFill>
              </a:defRPr>
            </a:pPr>
            <a:r>
              <a:t>• Avionul își continuă aterizarea în siguranță folosind doar Camera + Amprenta Dealurilor + Busola Cerului!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1960" y="1234440"/>
            <a:ext cx="3657600" cy="4983480"/>
          </a:xfrm>
          <a:prstGeom prst="roundRect">
            <a:avLst/>
          </a:prstGeom>
          <a:solidFill>
            <a:srgbClr val="111C35"/>
          </a:solidFill>
          <a:ln w="22225">
            <a:solidFill>
              <a:srgbClr val="FFB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98264" y="1344168"/>
            <a:ext cx="3364992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FFB800"/>
                </a:solidFill>
              </a:defRPr>
            </a:pPr>
            <a:r>
              <a:t>🕵️ 2. Cum Prindem și Hackerul „Lent” (Adunarea Micilor Minciuni)</a:t>
            </a:r>
          </a:p>
          <a:p>
            <a:pPr>
              <a:spcAft>
                <a:spcPts val="400"/>
              </a:spcAft>
              <a:defRPr sz="1080" b="0">
                <a:solidFill>
                  <a:srgbClr val="EBF5FF"/>
                </a:solidFill>
              </a:defRPr>
            </a:pPr>
            <a:r>
              <a:t>• Ce face hackerul viclean: mută GPS-ul foarte încet (câte 0.4 metri pe secundă) ca să nu depășească dintr-odată pragul de 2 metri.</a:t>
            </a:r>
          </a:p>
          <a:p>
            <a:pPr>
              <a:spcAft>
                <a:spcPts val="400"/>
              </a:spcAft>
              <a:defRPr sz="1080" b="0">
                <a:solidFill>
                  <a:srgbClr val="EBF5FF"/>
                </a:solidFill>
              </a:defRPr>
            </a:pPr>
            <a:r>
              <a:t>• Cum îl prindem: adunăm secundă cu secundă toate micile diferențe |P_GPS − P_real| (0.4 m + 0.4 m + 0.4 m + ...).</a:t>
            </a:r>
          </a:p>
          <a:p>
            <a:pPr>
              <a:spcAft>
                <a:spcPts val="400"/>
              </a:spcAft>
              <a:defRPr sz="1080" b="0">
                <a:solidFill>
                  <a:srgbClr val="00FF9D"/>
                </a:solidFill>
              </a:defRPr>
            </a:pPr>
            <a:r>
              <a:t>• Cum suma depășește 2 metri (în &lt; 2.9 secunde), declanșăm alarma și oprim GPS-ul fals înainte ca avionul să iasă de pe axul pistei!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92440" y="1234440"/>
            <a:ext cx="3657600" cy="4983480"/>
          </a:xfrm>
          <a:prstGeom prst="roundRect">
            <a:avLst/>
          </a:prstGeom>
          <a:solidFill>
            <a:srgbClr val="111C35"/>
          </a:solidFill>
          <a:ln w="22225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38744" y="1344168"/>
            <a:ext cx="3364992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50" b="1">
                <a:solidFill>
                  <a:srgbClr val="00E5FF"/>
                </a:solidFill>
              </a:defRPr>
            </a:pPr>
            <a:r>
              <a:t>🌦️ 3. Paznicul Meteo (Optical-Aerodynamic Sanity Gate)</a:t>
            </a:r>
          </a:p>
          <a:p>
            <a:pPr>
              <a:spcAft>
                <a:spcPts val="400"/>
              </a:spcAft>
              <a:defRPr sz="1200">
                <a:solidFill>
                  <a:srgbClr val="EBF5FF"/>
                </a:solidFill>
              </a:defRPr>
            </a:pPr>
            <a:r>
              <a:t>• Ce se întâmplă dacă hackerul taie internetul sau trimite date meteo false (otrăvite)?</a:t>
            </a:r>
          </a:p>
          <a:p>
            <a:pPr>
              <a:spcAft>
                <a:spcPts val="400"/>
              </a:spcAft>
              <a:defRPr sz="1200">
                <a:solidFill>
                  <a:srgbClr val="EBF5FF"/>
                </a:solidFill>
              </a:defRPr>
            </a:pPr>
            <a:r>
              <a:t>• Verificăm dacă vântul primit de pe internet se potrivește cu vântul văzut de cameră în ceață (diferență maximă permisă: ≤ 4.5 m/s).</a:t>
            </a:r>
          </a:p>
          <a:p>
            <a:pPr>
              <a:spcAft>
                <a:spcPts val="400"/>
              </a:spcAft>
              <a:defRPr sz="1200">
                <a:solidFill>
                  <a:srgbClr val="EBF5FF"/>
                </a:solidFill>
              </a:defRPr>
            </a:pPr>
            <a:r>
              <a:t>• Dacă datele meteo sunt false, le blocăm automat și folosim senzorii avionului!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6382512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>
                <a:solidFill>
                  <a:srgbClr val="9EC0E6"/>
                </a:solidFill>
              </a:defRPr>
            </a:pPr>
            <a:r>
              <a:t>AERO-SHIELD LRCV V2.0 | Craiova Hackathon 2026 | Aeroportul Internațional Craiova (Pista 09) | 100% Rust + CUDA GPU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56032"/>
            <a:ext cx="11457432" cy="804672"/>
          </a:xfrm>
          <a:prstGeom prst="rect">
            <a:avLst/>
          </a:prstGeom>
          <a:solidFill>
            <a:srgbClr val="111C35"/>
          </a:solidFill>
          <a:ln w="19050">
            <a:solidFill>
              <a:srgbClr val="185A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1051560" cy="530352"/>
          </a:xfrm>
          <a:prstGeom prst="roundRect">
            <a:avLst/>
          </a:prstGeom>
          <a:solidFill>
            <a:srgbClr val="00FF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41018"/>
                </a:solidFill>
              </a:defRPr>
            </a:pPr>
            <a:r>
              <a:t>SLIDE 6/10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64208" y="292608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80" b="1">
                <a:solidFill>
                  <a:srgbClr val="00E5FF"/>
                </a:solidFill>
              </a:defRPr>
            </a:pPr>
            <a:r>
              <a:t>CAMERA INFRAROȘU DE SUS (ZENITH SWIR 1.5 µm + DRA R7/R8) &amp; CELE 5 FORMULE SIMPLE</a:t>
            </a:r>
          </a:p>
          <a:p>
            <a:pPr>
              <a:defRPr sz="1120" b="0">
                <a:solidFill>
                  <a:srgbClr val="9EC0E6"/>
                </a:solidFill>
              </a:defRPr>
            </a:pPr>
            <a:r>
              <a:t>Moștenirea SR-71 Blackbird / B-2 Spirit / U-2 Dragon Lady + Cele 4 Formule Simple și Scutul Anti-Hacker pe înțelesul tuturor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234440"/>
            <a:ext cx="5577840" cy="4983480"/>
          </a:xfrm>
          <a:prstGeom prst="roundRect">
            <a:avLst/>
          </a:prstGeom>
          <a:solidFill>
            <a:srgbClr val="111C35"/>
          </a:solidFill>
          <a:ln w="22225">
            <a:solidFill>
              <a:srgbClr val="FF2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7784" y="1344168"/>
            <a:ext cx="5285231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80" b="1">
                <a:solidFill>
                  <a:srgbClr val="00E5FF"/>
                </a:solidFill>
              </a:defRPr>
            </a:pPr>
            <a:r>
              <a:t>🔭 Camera Infraroșu de Sus (Zenith SWIR 1.5 µm + Ochiul Dorsal DRA R7/R8)</a:t>
            </a:r>
          </a:p>
          <a:p>
            <a:pPr>
              <a:spcAft>
                <a:spcPts val="400"/>
              </a:spcAft>
              <a:defRPr sz="1030" b="0">
                <a:solidFill>
                  <a:srgbClr val="EBF5FF"/>
                </a:solidFill>
              </a:defRPr>
            </a:pPr>
            <a:r>
              <a:t>• Peste nori (Stele Ziua în SWIR 1.5 µm): În infraroșu scurt (1.5 µm), împrăștierea Rayleigh (λ⁻⁴) dispare — cerul zilei devine negru și camera vede stelele în plină zi!</a:t>
            </a:r>
          </a:p>
          <a:p>
            <a:pPr>
              <a:spcAft>
                <a:spcPts val="400"/>
              </a:spcAft>
              <a:defRPr sz="1030" b="0">
                <a:solidFill>
                  <a:srgbClr val="EBF5FF"/>
                </a:solidFill>
              </a:defRPr>
            </a:pPr>
            <a:r>
              <a:t>• În nori/ceață (Ochiul Dorsal al Muștei — Dorsal Rim Area DRA R7/R8): Când norii acoperă stelele, fotoreceptorii R7/R8 citesc inelele de polarizare ale luminii solare prin nori, blocând busola E-PG la &lt; 0.005°!</a:t>
            </a:r>
          </a:p>
          <a:p>
            <a:pPr>
              <a:spcAft>
                <a:spcPts val="400"/>
              </a:spcAft>
              <a:defRPr sz="1030" b="0">
                <a:solidFill>
                  <a:srgbClr val="EBF5FF"/>
                </a:solidFill>
              </a:defRPr>
            </a:pPr>
            <a:r>
              <a:t>• Moștenire Aeronautică: Folosit pe SR-71 Blackbird („R2-D2” Nortronics NAS-14V1), B-2 Spirit și U-2 Dragon Lady, adus acum pe avioane civile cu arhitectura Google Drosophila!</a:t>
            </a:r>
          </a:p>
          <a:p>
            <a:pPr>
              <a:spcAft>
                <a:spcPts val="400"/>
              </a:spcAft>
              <a:defRPr sz="1030" b="0">
                <a:solidFill>
                  <a:srgbClr val="9EC0E6"/>
                </a:solidFill>
              </a:defRPr>
            </a:pPr>
            <a:r>
              <a:t>• De ce SWIR 1.5 µm + DRA vs. CMB 2.7K?: Radiația cosmică de fond (CMB 2.7K în microunde) are rezoluție slabă pe antene mici, pe când SWIR 1.5 µm + DRA oferă precizie optică &lt; 0.005°!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234440"/>
            <a:ext cx="5577840" cy="4983480"/>
          </a:xfrm>
          <a:prstGeom prst="roundRect">
            <a:avLst/>
          </a:prstGeom>
          <a:solidFill>
            <a:srgbClr val="111C35"/>
          </a:solidFill>
          <a:ln w="22225">
            <a:solidFill>
              <a:srgbClr val="00FF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18504" y="1344168"/>
            <a:ext cx="5285231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60" b="1">
                <a:solidFill>
                  <a:srgbClr val="00FF9D"/>
                </a:solidFill>
              </a:defRPr>
            </a:pPr>
            <a:r>
              <a:t>📐 Cele 4 Formule Simple + Scutul Anti-Hacker (Exemple cu +, −, ×)</a:t>
            </a:r>
          </a:p>
          <a:p>
            <a:pPr>
              <a:spcAft>
                <a:spcPts val="400"/>
              </a:spcAft>
              <a:defRPr sz="990" b="0">
                <a:solidFill>
                  <a:srgbClr val="EBF5FF"/>
                </a:solidFill>
              </a:defRPr>
            </a:pPr>
            <a:r>
              <a:t>1. Formula 1 (Balans — HS/VS): V_pământ = V_cameră − V_rotire → Ex: 15 pixeli/s − 12 pixeli/s = 3 pixeli/s (mișcarea reală față de pistă!).</a:t>
            </a:r>
          </a:p>
          <a:p>
            <a:pPr>
              <a:spcAft>
                <a:spcPts val="400"/>
              </a:spcAft>
              <a:defRPr sz="990" b="0">
                <a:solidFill>
                  <a:srgbClr val="EBF5FF"/>
                </a:solidFill>
              </a:defRPr>
            </a:pPr>
            <a:r>
              <a:t>2. Formula 2 (Ceață SWIR — T4/T5): D_SWIR = 4 × D_ochi → Ex: 4 × 50 m (ochi) = 200 metri văzuți prin ceață!</a:t>
            </a:r>
          </a:p>
          <a:p>
            <a:pPr>
              <a:spcAft>
                <a:spcPts val="400"/>
              </a:spcAft>
              <a:defRPr sz="990" b="0">
                <a:solidFill>
                  <a:srgbClr val="EBF5FF"/>
                </a:solidFill>
              </a:defRPr>
            </a:pPr>
            <a:r>
              <a:t>3. Formula 3 (Vânt — PFNd): E_lateral = V_vânt + V_corecție = 0 → Ex: +10 m/s (vânt) − 10 m/s (corecție) = 0 metri abatere!</a:t>
            </a:r>
          </a:p>
          <a:p>
            <a:pPr>
              <a:defRPr sz="990" b="0">
                <a:solidFill>
                  <a:srgbClr val="00FF9D"/>
                </a:solidFill>
              </a:defRPr>
            </a:pPr>
            <a:r>
              <a:t>4. Formula 4 (Dealuri sub Nori): H_deal = H_avion − D_radar → Ex: 500 m (barometru) − 420 m (radar) = 80 metri (eroare &lt; 1m pe 100.000 km!).</a:t>
            </a:r>
          </a:p>
          <a:p>
            <a:pPr>
              <a:defRPr sz="990" b="1">
                <a:solidFill>
                  <a:srgbClr val="FBBF24"/>
                </a:solidFill>
              </a:defRPr>
            </a:pPr>
            <a:r>
              <a:t>5. Formula 5 (Anti-Hacker GPS): Δ_eroare = |P_GPS − P_real| → Ex: |500 m − 0 m| = 500 m &gt; 2 m ➔ 🚨 GPS FALS OPRIT AUTOMAT! (0.38 m eroare medie pe 100.000 km)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382512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>
                <a:solidFill>
                  <a:srgbClr val="9EC0E6"/>
                </a:solidFill>
              </a:defRPr>
            </a:pPr>
            <a:r>
              <a:t>AERO-SHIELD LRCV V2.0 | Craiova Hackathon 2026 | Aeroportul Internațional Craiova (Pista 09) | 100% Rust + CUDA GPU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56032"/>
            <a:ext cx="11457432" cy="804672"/>
          </a:xfrm>
          <a:prstGeom prst="rect">
            <a:avLst/>
          </a:prstGeom>
          <a:solidFill>
            <a:srgbClr val="111C35"/>
          </a:solidFill>
          <a:ln w="19050">
            <a:solidFill>
              <a:srgbClr val="185A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1051560" cy="530352"/>
          </a:xfrm>
          <a:prstGeom prst="roundRect">
            <a:avLst/>
          </a:prstGeom>
          <a:solidFill>
            <a:srgbClr val="00FF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41018"/>
                </a:solidFill>
              </a:defRPr>
            </a:pPr>
            <a:r>
              <a:t>SLIDE 7/10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64208" y="292608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80" b="1">
                <a:solidFill>
                  <a:srgbClr val="00E5FF"/>
                </a:solidFill>
              </a:defRPr>
            </a:pPr>
            <a:r>
              <a:t>CREIERUL GOOGLE DROSOPHILA + CAMERA ZENITH SWIR 1.5 µm &amp; DRA R7/R8 ÎN 100% RUST</a:t>
            </a:r>
          </a:p>
          <a:p>
            <a:pPr>
              <a:defRPr sz="1100" b="0">
                <a:solidFill>
                  <a:srgbClr val="9EC0E6"/>
                </a:solidFill>
              </a:defRPr>
            </a:pPr>
            <a:r>
              <a:t>SR-71 Blackbird / B-2 Spirit / U-2 Dragon Lady Heritage  •  Cele 5 Formule Intuitive (+, −, ×)  •  100.000 km Fără GPS (0.38 m medie)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234440"/>
            <a:ext cx="5577840" cy="4983480"/>
          </a:xfrm>
          <a:prstGeom prst="roundRect">
            <a:avLst/>
          </a:prstGeom>
          <a:solidFill>
            <a:srgbClr val="111C35"/>
          </a:solidFill>
          <a:ln w="22225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7784" y="1344168"/>
            <a:ext cx="5285231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20" b="1">
                <a:solidFill>
                  <a:srgbClr val="00E5FF"/>
                </a:solidFill>
              </a:defRPr>
            </a:pPr>
            <a:r>
              <a:t>🦀 Cele 5 Crate-uri Rust — Cum Executăm Cele 5 Formule Simple în &lt; 0.8 ms</a:t>
            </a:r>
          </a:p>
          <a:p>
            <a:pPr>
              <a:spcAft>
                <a:spcPts val="400"/>
              </a:spcAft>
              <a:defRPr sz="990" b="0">
                <a:solidFill>
                  <a:srgbClr val="EBF5FF"/>
                </a:solidFill>
              </a:defRPr>
            </a:pPr>
            <a:r>
              <a:t>1. aero-math-6dof (Formula 1 — HS/VS Lobula Plate): V_pământ = V_cameră − V_rotire (15 px/s − 12 px/s = 3 px/s mișcare reală față de pistă, fără balans).</a:t>
            </a:r>
          </a:p>
          <a:p>
            <a:pPr>
              <a:spcAft>
                <a:spcPts val="400"/>
              </a:spcAft>
              <a:defRPr sz="990" b="0">
                <a:solidFill>
                  <a:srgbClr val="EBF5FF"/>
                </a:solidFill>
              </a:defRPr>
            </a:pPr>
            <a:r>
              <a:t>2. aero-optical-flow (Formula 2 — T4/T5 + SWIR/DRA): D_SWIR = 4 × D_ochi (4 × 50 m = 200 m în ceață) + Zenith SWIR 1.5 µm (stele ziua) &amp; DRA R7/R8 (polarizare în nori &lt; 0.005°).</a:t>
            </a:r>
          </a:p>
          <a:p>
            <a:pPr>
              <a:spcAft>
                <a:spcPts val="400"/>
              </a:spcAft>
              <a:defRPr sz="990" b="0">
                <a:solidFill>
                  <a:srgbClr val="EBF5FF"/>
                </a:solidFill>
              </a:defRPr>
            </a:pPr>
            <a:r>
              <a:t>3. aero-flight-control (Formula 3 — PFNd Wind-Vision): E_lateral = V_vânt + V_corecție = 0 (+10 m/s vânt − 10 m/s corecție = 0 m abatere, cu 0.85s înainte de impact!).</a:t>
            </a:r>
          </a:p>
          <a:p>
            <a:pPr>
              <a:spcAft>
                <a:spcPts val="400"/>
              </a:spcAft>
              <a:defRPr sz="990" b="0">
                <a:solidFill>
                  <a:srgbClr val="EBF5FF"/>
                </a:solidFill>
              </a:defRPr>
            </a:pPr>
            <a:r>
              <a:t>4. aero-ukf-fusion (Formulele 4 &amp; 5 — E-PG Ring + Dealuri + Anti-Hacker): H_deal = 500 m − 420 m = 80 m | Δ_eroare = |500 m − 0 m| = 500 m &gt; 2 m → GPS fals oprit automat!</a:t>
            </a:r>
          </a:p>
          <a:p>
            <a:pPr>
              <a:spcAft>
                <a:spcPts val="400"/>
              </a:spcAft>
              <a:defRPr sz="990" b="0">
                <a:solidFill>
                  <a:srgbClr val="00FF9D"/>
                </a:solidFill>
              </a:defRPr>
            </a:pPr>
            <a:r>
              <a:t>5. aero-cockpit-ui (6 Pagini Separate @ 60 Hz Zero-Lag): Moștenire SR-71 Blackbird, B-2 Spirit, U-2 Dragon Lady (superior CMB 2.7K) → 100.000 km fără GPS (0.38 m medie)!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4919472"/>
            <a:ext cx="5577840" cy="1298448"/>
          </a:xfrm>
          <a:prstGeom prst="roundRect">
            <a:avLst/>
          </a:prstGeom>
          <a:solidFill>
            <a:srgbClr val="111C35"/>
          </a:solidFill>
          <a:ln w="22225">
            <a:solidFill>
              <a:srgbClr val="00FF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91072" y="4956048"/>
            <a:ext cx="5340096" cy="1225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50" b="1">
                <a:solidFill>
                  <a:srgbClr val="00FF9D"/>
                </a:solidFill>
              </a:defRPr>
            </a:pPr>
            <a:r>
              <a:t>⚡ Performanță 100.000 km Fără GPS &amp; Execuție &lt; 0.8 ms Zero-Lag</a:t>
            </a:r>
          </a:p>
          <a:p>
            <a:pPr>
              <a:spcAft>
                <a:spcPts val="400"/>
              </a:spcAft>
              <a:defRPr sz="960" b="0">
                <a:solidFill>
                  <a:srgbClr val="EBF5FF"/>
                </a:solidFill>
              </a:defRPr>
            </a:pPr>
            <a:r>
              <a:t>• SR-71 Blackbird (NAS-14V1) / B-2 Spirit / U-2 Dragon Lady SWIR 1.5 µm + Drosophila DRA R7/R8 (&lt; 0.005° vs. CMB 2.7K).</a:t>
            </a:r>
          </a:p>
          <a:p>
            <a:pPr>
              <a:spcAft>
                <a:spcPts val="400"/>
              </a:spcAft>
              <a:defRPr sz="960" b="0">
                <a:solidFill>
                  <a:srgbClr val="EBF5FF"/>
                </a:solidFill>
              </a:defRPr>
            </a:pPr>
            <a:r>
              <a:t>• Anduranță 100.000 km Fără GPS: eroare &lt; 1 m (0.38 m medie, 0.79 m max, 0.21 m la aterizare) • ArcSwap &lt; 50 ns!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382512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>
                <a:solidFill>
                  <a:srgbClr val="9EC0E6"/>
                </a:solidFill>
              </a:defRPr>
            </a:pPr>
            <a:r>
              <a:t>AERO-SHIELD LRCV V2.0 | Craiova Hackathon 2026 | Aeroportul Internațional Craiova (Pista 09) | 100% Rust + CUDA GPU</a:t>
            </a:r>
          </a:p>
        </p:txBody>
      </p:sp>
      <p:pic>
        <p:nvPicPr>
          <p:cNvPr id="10" name="Picture 9" descr="drosophila_connectome_slide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72200" y="1207008"/>
            <a:ext cx="5577840" cy="363931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56032"/>
            <a:ext cx="11457432" cy="804672"/>
          </a:xfrm>
          <a:prstGeom prst="rect">
            <a:avLst/>
          </a:prstGeom>
          <a:solidFill>
            <a:srgbClr val="111C35"/>
          </a:solidFill>
          <a:ln w="19050">
            <a:solidFill>
              <a:srgbClr val="185A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1051560" cy="530352"/>
          </a:xfrm>
          <a:prstGeom prst="roundRect">
            <a:avLst/>
          </a:prstGeom>
          <a:solidFill>
            <a:srgbClr val="00FF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41018"/>
                </a:solidFill>
              </a:defRPr>
            </a:pPr>
            <a:r>
              <a:t>SLIDE 8/10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64208" y="292608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0E5FF"/>
                </a:solidFill>
              </a:defRPr>
            </a:pPr>
            <a:r>
              <a:t>VALIDARE PE 3 FILMĂRI VIDEO REALE DIN CABINA PILOȚILOR</a:t>
            </a:r>
          </a:p>
          <a:p>
            <a:pPr>
              <a:defRPr sz="1150">
                <a:solidFill>
                  <a:srgbClr val="9EC0E6"/>
                </a:solidFill>
              </a:defRPr>
            </a:pPr>
            <a:r>
              <a:t>825 cadre video reale procesate pixel cu pixel la 438.7 FPS medie — 0 erori NaN/Inf!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234440"/>
            <a:ext cx="5577840" cy="4983480"/>
          </a:xfrm>
          <a:prstGeom prst="roundRect">
            <a:avLst/>
          </a:prstGeom>
          <a:solidFill>
            <a:srgbClr val="111C35"/>
          </a:solidFill>
          <a:ln w="22225">
            <a:solidFill>
              <a:srgbClr val="00FF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7784" y="1344168"/>
            <a:ext cx="5285231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50" b="1">
                <a:solidFill>
                  <a:srgbClr val="00FF9D"/>
                </a:solidFill>
              </a:defRPr>
            </a:pPr>
            <a:r>
              <a:t>🎬 Ce Se Vede cu Ochiul Liber vs. Ce Măsoară AERO-SHIELD</a:t>
            </a:r>
          </a:p>
          <a:p>
            <a:pPr>
              <a:spcAft>
                <a:spcPts val="400"/>
              </a:spcAft>
              <a:defRPr sz="1120">
                <a:solidFill>
                  <a:srgbClr val="EBF5FF"/>
                </a:solidFill>
              </a:defRPr>
            </a:pPr>
            <a:r>
              <a:t>1. Filmarea #1 — Ceață Albă Densă (Avion Militar LC-130):</a:t>
            </a:r>
          </a:p>
          <a:p>
            <a:pPr>
              <a:spcAft>
                <a:spcPts val="400"/>
              </a:spcAft>
              <a:defRPr sz="1120">
                <a:solidFill>
                  <a:srgbClr val="EBF5FF"/>
                </a:solidFill>
              </a:defRPr>
            </a:pPr>
            <a:r>
              <a:t>   • Ochiul vede doar un zid alb. Programul procesează 300 cadre la 522.0 FPS, măsoară ceața și anticipează 277 rafale!</a:t>
            </a:r>
          </a:p>
          <a:p>
            <a:pPr>
              <a:spcAft>
                <a:spcPts val="400"/>
              </a:spcAft>
              <a:defRPr sz="1120">
                <a:solidFill>
                  <a:srgbClr val="EBF5FF"/>
                </a:solidFill>
              </a:defRPr>
            </a:pPr>
            <a:r>
              <a:t>2. Filmarea #2 — Apropiere pe Luminile Pistei (Paris CDG):</a:t>
            </a:r>
          </a:p>
          <a:p>
            <a:pPr>
              <a:spcAft>
                <a:spcPts val="400"/>
              </a:spcAft>
              <a:defRPr sz="1120">
                <a:solidFill>
                  <a:srgbClr val="EBF5FF"/>
                </a:solidFill>
              </a:defRPr>
            </a:pPr>
            <a:r>
              <a:t>   • Ochiul vede halouri în ceață. Programul procesează 300 cadre la 382.5 FPS și fixează 11.240 puncte luminoase ALS!</a:t>
            </a:r>
          </a:p>
          <a:p>
            <a:pPr>
              <a:spcAft>
                <a:spcPts val="400"/>
              </a:spcAft>
              <a:defRPr sz="1120">
                <a:solidFill>
                  <a:srgbClr val="EBF5FF"/>
                </a:solidFill>
              </a:defRPr>
            </a:pPr>
            <a:r>
              <a:t>3. Filmarea #3 — Aterizare pe Vânt Lateral Puternic:</a:t>
            </a:r>
          </a:p>
          <a:p>
            <a:pPr>
              <a:spcAft>
                <a:spcPts val="400"/>
              </a:spcAft>
              <a:defRPr sz="1120">
                <a:solidFill>
                  <a:srgbClr val="EBF5FF"/>
                </a:solidFill>
              </a:defRPr>
            </a:pPr>
            <a:r>
              <a:t>   • Avionul se clatină puternic. Programul procesează 225 cadre la 431.5 FPS și separă înclinarea aripilor de vânt!</a:t>
            </a:r>
          </a:p>
        </p:txBody>
      </p:sp>
      <p:pic>
        <p:nvPicPr>
          <p:cNvPr id="7" name="Picture 6" descr="chart_real_vide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298448"/>
            <a:ext cx="5577840" cy="323874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6382512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>
                <a:solidFill>
                  <a:srgbClr val="9EC0E6"/>
                </a:solidFill>
              </a:defRPr>
            </a:pPr>
            <a:r>
              <a:t>AERO-SHIELD LRCV V2.0 | Craiova Hackathon 2026 | Aeroportul Internațional Craiova (Pista 09) | 100% Rust + CUDA GPU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56032"/>
            <a:ext cx="11457432" cy="804672"/>
          </a:xfrm>
          <a:prstGeom prst="rect">
            <a:avLst/>
          </a:prstGeom>
          <a:solidFill>
            <a:srgbClr val="111C35"/>
          </a:solidFill>
          <a:ln w="19050">
            <a:solidFill>
              <a:srgbClr val="185A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1051560" cy="530352"/>
          </a:xfrm>
          <a:prstGeom prst="roundRect">
            <a:avLst/>
          </a:prstGeom>
          <a:solidFill>
            <a:srgbClr val="00FF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41018"/>
                </a:solidFill>
              </a:defRPr>
            </a:pPr>
            <a:r>
              <a:t>SLIDE 9/10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64208" y="292608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20" b="1">
                <a:solidFill>
                  <a:srgbClr val="00E5FF"/>
                </a:solidFill>
              </a:defRPr>
            </a:pPr>
            <a:r>
              <a:t>CURSA CELOR 4 AVIOANE &amp; TESTUL DE 100.000 km FĂRĂ GPS (EROARE &lt; 1 METRU)</a:t>
            </a:r>
          </a:p>
          <a:p>
            <a:pPr>
              <a:defRPr sz="1100" b="0">
                <a:solidFill>
                  <a:srgbClr val="9EC0E6"/>
                </a:solidFill>
              </a:defRPr>
            </a:pPr>
            <a:r>
              <a:t>Amprenta Dealurilor (500 m − 420 m = 80 m) + Anularea Vântului (+10 − 10 = 0 m) + Busola Zenith SWIR 1.5 µm &amp; DRA R7/R8 (&lt; 0.005°)</a:t>
            </a:r>
          </a:p>
        </p:txBody>
      </p:sp>
      <p:pic>
        <p:nvPicPr>
          <p:cNvPr id="5" name="Picture 4" descr="chart_4_aircraft_ar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07008"/>
            <a:ext cx="11155680" cy="369417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4992624"/>
            <a:ext cx="11155680" cy="1261872"/>
          </a:xfrm>
          <a:prstGeom prst="roundRect">
            <a:avLst/>
          </a:prstGeom>
          <a:solidFill>
            <a:srgbClr val="111C35"/>
          </a:solidFill>
          <a:ln w="22225">
            <a:solidFill>
              <a:srgbClr val="00FF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" y="5047488"/>
            <a:ext cx="10863072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60" b="1">
                <a:solidFill>
                  <a:srgbClr val="00FF9D"/>
                </a:solidFill>
              </a:defRPr>
            </a:pPr>
            <a:r>
              <a:t>🏁 Concluzia Cursei pe Pista 09 Craiova &amp; Testul de 100.000 km Fără GPS (H_deal = 500 m − 420 m = 80 m):</a:t>
            </a:r>
          </a:p>
          <a:p>
            <a:pPr>
              <a:spcAft>
                <a:spcPts val="400"/>
              </a:spcAft>
              <a:defRPr sz="1000" b="0">
                <a:solidFill>
                  <a:srgbClr val="EBF5FF"/>
                </a:solidFill>
              </a:defRPr>
            </a:pPr>
            <a:r>
              <a:t>🔴 GPS Clasic (|500m − 0m| nesupravegheat): &gt;64m (pe câmp)  |  🟠 Doar IMU: &gt;52m  |  🟡 Cameră Simplă: &gt;38m  |  🟢 AERO-SHIELD V2.0: 0.21m la aterizare!</a:t>
            </a:r>
          </a:p>
          <a:p>
            <a:pPr>
              <a:defRPr sz="1000" b="1">
                <a:solidFill>
                  <a:srgbClr val="FBBF24"/>
                </a:solidFill>
              </a:defRPr>
            </a:pPr>
            <a:r>
              <a:t>🏆 Test 100.000 km Fără GPS (Zenith SWIR 1.5 µm + DRA R7/R8 &lt; 0.005°, SR-71 Blackbird, B-2 Spirit, U-2 Dragon Lady): eroare &lt; 1 metru (0.38 m medie, 0.79 m max, 0.21 m la aterizare)!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382512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>
                <a:solidFill>
                  <a:srgbClr val="9EC0E6"/>
                </a:solidFill>
              </a:defRPr>
            </a:pPr>
            <a:r>
              <a:t>AERO-SHIELD LRCV V2.0 | Craiova Hackathon 2026 | Aeroportul Internațional Craiova (Pista 09) | 100% Rust + CUDA GPU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56032"/>
            <a:ext cx="11457432" cy="804672"/>
          </a:xfrm>
          <a:prstGeom prst="rect">
            <a:avLst/>
          </a:prstGeom>
          <a:solidFill>
            <a:srgbClr val="111C35"/>
          </a:solidFill>
          <a:ln w="19050">
            <a:solidFill>
              <a:srgbClr val="185A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1051560" cy="530352"/>
          </a:xfrm>
          <a:prstGeom prst="roundRect">
            <a:avLst/>
          </a:prstGeom>
          <a:solidFill>
            <a:srgbClr val="00FF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41018"/>
                </a:solidFill>
              </a:defRPr>
            </a:pPr>
            <a:r>
              <a:t>SLIDE 10/10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64208" y="292608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00E5FF"/>
                </a:solidFill>
              </a:defRPr>
            </a:pPr>
            <a:r>
              <a:t>INTERFAȚA CU 6 PAGINI SEPARATE FĂRĂ SCROLL + FILMARE REALĂ 50% PESTE GRAFIC</a:t>
            </a:r>
          </a:p>
          <a:p>
            <a:pPr>
              <a:defRPr sz="1150" b="0">
                <a:solidFill>
                  <a:srgbClr val="9EC0E6"/>
                </a:solidFill>
              </a:defRPr>
            </a:pPr>
            <a:r>
              <a:t>Cum demonstrăm live cele 6 pagini aerisite (inclusiv Pagina 5: Creierul Google Drosophila) pe http://localhost:8080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234440"/>
            <a:ext cx="5669280" cy="4983480"/>
          </a:xfrm>
          <a:prstGeom prst="roundRect">
            <a:avLst/>
          </a:prstGeom>
          <a:solidFill>
            <a:srgbClr val="111C35"/>
          </a:solidFill>
          <a:ln w="22225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7784" y="1344168"/>
            <a:ext cx="5376672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50" b="1">
                <a:solidFill>
                  <a:srgbClr val="00E5FF"/>
                </a:solidFill>
              </a:defRPr>
            </a:pPr>
            <a:r>
              <a:t>🖥️ Ce Vede Juriul în Aplicația Web Live (6 Pagini Separate @ 60 FPS):</a:t>
            </a:r>
          </a:p>
          <a:p>
            <a:pPr>
              <a:spcAft>
                <a:spcPts val="400"/>
              </a:spcAft>
              <a:defRPr sz="1100" b="0">
                <a:solidFill>
                  <a:srgbClr val="EBF5FF"/>
                </a:solidFill>
              </a:defRPr>
            </a:pPr>
            <a:r>
              <a:t>• 🗂️ Arhitectură Aerisită cu 6 Pagini Web Separate (Zero Scroll): Pagina 1 (Cockpit 3D), Pagina 2 (Radar 4 Avioane), Pagina 3 (Atac Cyber), Pagina 4 (Meteo Craiova), Pagina 5 (Creierul Google Drosophila) și Pagina 6 (Telemetrie DO-178C).</a:t>
            </a:r>
          </a:p>
          <a:p>
            <a:pPr>
              <a:spcAft>
                <a:spcPts val="400"/>
              </a:spcAft>
              <a:defRPr sz="1100" b="0">
                <a:solidFill>
                  <a:srgbClr val="EBF5FF"/>
                </a:solidFill>
              </a:defRPr>
            </a:pPr>
            <a:r>
              <a:t>• 🧠 Pagina 5 Dedicată Creierului Google Drosophila: vizualizează în timp real circuitele T4/T5, derotarea HS/VS, inelul de 16 neuroni E-PG și separarea vântului PFNd!</a:t>
            </a:r>
          </a:p>
          <a:p>
            <a:pPr>
              <a:spcAft>
                <a:spcPts val="400"/>
              </a:spcAft>
              <a:defRPr sz="1100" b="0">
                <a:solidFill>
                  <a:srgbClr val="EBF5FF"/>
                </a:solidFill>
              </a:defRPr>
            </a:pPr>
            <a:r>
              <a:t>• 🎥 Filmare Video Reală (.mp4) suprapusă cu TRANSPARENȚĂ 50% (opacity: 0.5) direct peste graficul 3D al Parbrizului și peste Radarul celor 4 avioane!</a:t>
            </a:r>
          </a:p>
          <a:p>
            <a:pPr>
              <a:spcAft>
                <a:spcPts val="400"/>
              </a:spcAft>
              <a:defRPr sz="1100" b="0">
                <a:solidFill>
                  <a:srgbClr val="EBF5FF"/>
                </a:solidFill>
              </a:defRPr>
            </a:pPr>
            <a:r>
              <a:t>• 🇷🇴 Română Implicit + Comutator Bilingv Instantaneu (RO/EN) + Ghid Vizual în 3 Pași și „Povestitor în Timp Real”.</a:t>
            </a:r>
          </a:p>
          <a:p>
            <a:pPr>
              <a:spcAft>
                <a:spcPts val="400"/>
              </a:spcAft>
              <a:defRPr sz="1100" b="0">
                <a:solidFill>
                  <a:srgbClr val="EBF5FF"/>
                </a:solidFill>
              </a:defRPr>
            </a:pPr>
            <a:r>
              <a:t>• 🎬 3 Scenarii Automate (Act 1, Act 2, Act 3) + Glisor Transparență 50% + Pilotaj din tastele WASD / QE.</a:t>
            </a:r>
          </a:p>
        </p:txBody>
      </p:sp>
      <p:pic>
        <p:nvPicPr>
          <p:cNvPr id="7" name="Picture 6" descr="hud_video_50_bl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280160"/>
            <a:ext cx="5440680" cy="3060383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263640" y="4526280"/>
            <a:ext cx="5440680" cy="1691640"/>
          </a:xfrm>
          <a:prstGeom prst="roundRect">
            <a:avLst/>
          </a:prstGeom>
          <a:solidFill>
            <a:srgbClr val="111C35"/>
          </a:solidFill>
          <a:ln w="22225">
            <a:solidFill>
              <a:srgbClr val="00FF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9944" y="4636008"/>
            <a:ext cx="5148072" cy="1490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50" b="1">
                <a:solidFill>
                  <a:srgbClr val="00FF9D"/>
                </a:solidFill>
              </a:defRPr>
            </a:pPr>
            <a:r>
              <a:t>🚀 Pregătit pentru Demonstrația Live!</a:t>
            </a:r>
          </a:p>
          <a:p>
            <a:pPr>
              <a:spcAft>
                <a:spcPts val="400"/>
              </a:spcAft>
              <a:defRPr sz="1150">
                <a:solidFill>
                  <a:srgbClr val="EBF5FF"/>
                </a:solidFill>
              </a:defRPr>
            </a:pPr>
            <a:r>
              <a:t>• Deschideți http://localhost:8080 (sau http://34.12.88.28:8080).</a:t>
            </a:r>
          </a:p>
          <a:p>
            <a:pPr>
              <a:spcAft>
                <a:spcPts val="400"/>
              </a:spcAft>
              <a:defRPr sz="1150">
                <a:solidFill>
                  <a:srgbClr val="EBF5FF"/>
                </a:solidFill>
              </a:defRPr>
            </a:pPr>
            <a:r>
              <a:t>• Apăsați pe Scenariile 1, 2, 3 și reglați glisorul de transparență 50% video peste grafic în timp real!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6382512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>
                <a:solidFill>
                  <a:srgbClr val="9EC0E6"/>
                </a:solidFill>
              </a:defRPr>
            </a:pPr>
            <a:r>
              <a:t>AERO-SHIELD LRCV V2.0 | Craiova Hackathon 2026 | Aeroportul Internațional Craiova (Pista 09) | 100% Rust + CUDA GPU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